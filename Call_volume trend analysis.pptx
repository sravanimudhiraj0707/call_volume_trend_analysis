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HP\Downloads\ABC%20Call%20volume-Final%20Excel%20Sheet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ABC%20Call%20volume-Final%20Excel%20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HP\Downloads\ABC%20Call%20volume-Final%20Excel%20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HP\Downloads\ABC%20Call%20volume-Final%20Excel%20She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[ABC Call volume-Final Excel Sheet.xlsx]Q1!PivotTable3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200"/>
              <a:t>Average</a:t>
            </a:r>
            <a:r>
              <a:rPr lang="en-US" sz="1200" baseline="0"/>
              <a:t> answered call duration in each time bucket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3679062208391373E-2"/>
          <c:y val="0.25505974152645694"/>
          <c:w val="0.9421775472145989"/>
          <c:h val="0.6464361486635678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'Q1'!$F$3:$F$4</c:f>
              <c:strCache>
                <c:ptCount val="1"/>
                <c:pt idx="0">
                  <c:v>Average call duration(s)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'Q1'!$E$5:$E$16</c:f>
              <c:strCache>
                <c:ptCount val="12"/>
                <c:pt idx="0">
                  <c:v>10_11</c:v>
                </c:pt>
                <c:pt idx="1">
                  <c:v>11_12</c:v>
                </c:pt>
                <c:pt idx="2">
                  <c:v>12_13</c:v>
                </c:pt>
                <c:pt idx="3">
                  <c:v>13_14</c:v>
                </c:pt>
                <c:pt idx="4">
                  <c:v>14_15</c:v>
                </c:pt>
                <c:pt idx="5">
                  <c:v>15_16</c:v>
                </c:pt>
                <c:pt idx="6">
                  <c:v>16_17</c:v>
                </c:pt>
                <c:pt idx="7">
                  <c:v>17_18</c:v>
                </c:pt>
                <c:pt idx="8">
                  <c:v>18_19</c:v>
                </c:pt>
                <c:pt idx="9">
                  <c:v>19_20</c:v>
                </c:pt>
                <c:pt idx="10">
                  <c:v>20_21</c:v>
                </c:pt>
                <c:pt idx="11">
                  <c:v>9_10</c:v>
                </c:pt>
              </c:strCache>
            </c:strRef>
          </c:cat>
          <c:val>
            <c:numRef>
              <c:f>'Q1'!$F$5:$F$16</c:f>
              <c:numCache>
                <c:formatCode>0</c:formatCode>
                <c:ptCount val="12"/>
                <c:pt idx="0">
                  <c:v>203.33103015075378</c:v>
                </c:pt>
                <c:pt idx="1">
                  <c:v>199.25502336448599</c:v>
                </c:pt>
                <c:pt idx="2">
                  <c:v>192.88878286683629</c:v>
                </c:pt>
                <c:pt idx="3">
                  <c:v>194.74017442518971</c:v>
                </c:pt>
                <c:pt idx="4">
                  <c:v>193.67707549535993</c:v>
                </c:pt>
                <c:pt idx="5">
                  <c:v>198.88891752577319</c:v>
                </c:pt>
                <c:pt idx="6">
                  <c:v>200.86818644931228</c:v>
                </c:pt>
                <c:pt idx="7">
                  <c:v>200.24878305486121</c:v>
                </c:pt>
                <c:pt idx="8">
                  <c:v>202.55096774193549</c:v>
                </c:pt>
                <c:pt idx="9">
                  <c:v>203.40607252075142</c:v>
                </c:pt>
                <c:pt idx="10">
                  <c:v>202.84599303135889</c:v>
                </c:pt>
                <c:pt idx="11">
                  <c:v>199.0691056910569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F2-461A-96A0-5E11EBFEBE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49621760"/>
        <c:axId val="910818832"/>
        <c:axId val="0"/>
      </c:bar3DChart>
      <c:catAx>
        <c:axId val="1049621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FFF00"/>
          </a:solid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0818832"/>
        <c:crosses val="autoZero"/>
        <c:auto val="1"/>
        <c:lblAlgn val="ctr"/>
        <c:lblOffset val="100"/>
        <c:tickLblSkip val="1"/>
        <c:noMultiLvlLbl val="0"/>
      </c:catAx>
      <c:valAx>
        <c:axId val="910818832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1049621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[ABC Call volume-Final Excel Sheet.xlsx]Q2!PivotTable4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/>
              <a:t>Calls</a:t>
            </a:r>
            <a:r>
              <a:rPr lang="en-IN" sz="1400" baseline="0"/>
              <a:t> received in each time bucket</a:t>
            </a:r>
            <a:endParaRPr lang="en-IN" sz="1400"/>
          </a:p>
        </c:rich>
      </c:tx>
      <c:layout>
        <c:manualLayout>
          <c:xMode val="edge"/>
          <c:yMode val="edge"/>
          <c:x val="0.241199377001778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435185185185185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0.180555555555555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2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4630400542030983E-2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574074074074074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189814814814814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93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91E-2"/>
              <c:y val="0.120370370370370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8.33333333333333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1241280379421577E-2"/>
              <c:y val="-0.1064814814814814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9.2592592592592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435185185185185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0.1805555555555555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2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4630400542030983E-2"/>
              <c:y val="7.4074074074074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5740740740740741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1898148148148148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93E-2"/>
              <c:y val="7.87037037037037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91E-2"/>
              <c:y val="0.12037037037037046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8.3333333333333329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1241280379421577E-2"/>
              <c:y val="-0.10648148148148148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-0.10185185185185185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9.259259259259258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435185185185185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0.1805555555555555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2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4630400542030983E-2"/>
              <c:y val="7.40740740740740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5740740740740741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18981481481481483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93E-2"/>
              <c:y val="7.8703703703703706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91E-2"/>
              <c:y val="0.12037037037037046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8.3333333333333329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1241280379421577E-2"/>
              <c:y val="-0.10648148148148148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-0.1018518518518518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9.259259259259258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435185185185185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0.1805555555555555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2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4630400542030983E-2"/>
              <c:y val="7.40740740740740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5740740740740741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18981481481481483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93E-2"/>
              <c:y val="7.8703703703703706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91E-2"/>
              <c:y val="0.12037037037037046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8.3333333333333329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1241280379421577E-2"/>
              <c:y val="-0.10648148148148148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-0.1018518518518518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9.259259259259258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2">
              <a:lumMod val="40000"/>
              <a:lumOff val="6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tx1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435185185185185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0.1805555555555555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2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4630400542030983E-2"/>
              <c:y val="7.40740740740740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847E-2"/>
              <c:y val="0.15740740740740741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08E-2"/>
              <c:y val="0.18981481481481483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016736048782793E-2"/>
              <c:y val="7.8703703703703706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3472800406523291E-2"/>
              <c:y val="0.12037037037037046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5704320433624752E-2"/>
              <c:y val="8.3333333333333329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3.1241280379421577E-2"/>
              <c:y val="-0.10648148148148148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-0.10185185185185185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2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solidFill>
              <a:srgbClr val="FF0000"/>
            </a:soli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4.2398880514929398E-2"/>
              <c:y val="9.2592592592592587E-2"/>
            </c:manualLayout>
          </c:layout>
          <c:spPr>
            <a:solidFill>
              <a:srgbClr val="FFFF00"/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'Q2'!$F$3</c:f>
              <c:strCache>
                <c:ptCount val="1"/>
                <c:pt idx="0">
                  <c:v>Count of Call_Seconds (s)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tx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'Q2'!$E$4:$E$15</c:f>
              <c:strCache>
                <c:ptCount val="12"/>
                <c:pt idx="0">
                  <c:v>10_11</c:v>
                </c:pt>
                <c:pt idx="1">
                  <c:v>11_12</c:v>
                </c:pt>
                <c:pt idx="2">
                  <c:v>12_13</c:v>
                </c:pt>
                <c:pt idx="3">
                  <c:v>13_14</c:v>
                </c:pt>
                <c:pt idx="4">
                  <c:v>14_15</c:v>
                </c:pt>
                <c:pt idx="5">
                  <c:v>15_16</c:v>
                </c:pt>
                <c:pt idx="6">
                  <c:v>16_17</c:v>
                </c:pt>
                <c:pt idx="7">
                  <c:v>17_18</c:v>
                </c:pt>
                <c:pt idx="8">
                  <c:v>18_19</c:v>
                </c:pt>
                <c:pt idx="9">
                  <c:v>19_20</c:v>
                </c:pt>
                <c:pt idx="10">
                  <c:v>20_21</c:v>
                </c:pt>
                <c:pt idx="11">
                  <c:v>9_10</c:v>
                </c:pt>
              </c:strCache>
            </c:strRef>
          </c:cat>
          <c:val>
            <c:numRef>
              <c:f>'Q2'!$F$4:$F$15</c:f>
              <c:numCache>
                <c:formatCode>0.00%</c:formatCode>
                <c:ptCount val="12"/>
                <c:pt idx="0">
                  <c:v>0.11283350849238906</c:v>
                </c:pt>
                <c:pt idx="1">
                  <c:v>0.12396175882293115</c:v>
                </c:pt>
                <c:pt idx="2">
                  <c:v>0.10723124385530731</c:v>
                </c:pt>
                <c:pt idx="3">
                  <c:v>9.7984540800759398E-2</c:v>
                </c:pt>
                <c:pt idx="4">
                  <c:v>8.9509102620605491E-2</c:v>
                </c:pt>
                <c:pt idx="5">
                  <c:v>7.7626538292029701E-2</c:v>
                </c:pt>
                <c:pt idx="6">
                  <c:v>7.4482150727192595E-2</c:v>
                </c:pt>
                <c:pt idx="7">
                  <c:v>7.2329389429433497E-2</c:v>
                </c:pt>
                <c:pt idx="8">
                  <c:v>6.1345221547954028E-2</c:v>
                </c:pt>
                <c:pt idx="9">
                  <c:v>5.4776756958334748E-2</c:v>
                </c:pt>
                <c:pt idx="10">
                  <c:v>4.6657287181747296E-2</c:v>
                </c:pt>
                <c:pt idx="11">
                  <c:v>8.1262501271315721E-2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32-4640-8579-C959A5EFF6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49639856"/>
        <c:axId val="896449040"/>
      </c:barChart>
      <c:lineChart>
        <c:grouping val="standard"/>
        <c:varyColors val="0"/>
        <c:ser>
          <c:idx val="1"/>
          <c:order val="1"/>
          <c:tx>
            <c:strRef>
              <c:f>'Q2'!$G$3</c:f>
              <c:strCache>
                <c:ptCount val="1"/>
                <c:pt idx="0">
                  <c:v>Count of Customer_Phone_No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solidFill>
                <a:srgbClr val="FF0000"/>
              </a:soli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Pt>
            <c:idx val="0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9F32-4640-8579-C959A5EFF695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9F32-4640-8579-C959A5EFF695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9F32-4640-8579-C959A5EFF695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8-9F32-4640-8579-C959A5EFF695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9F32-4640-8579-C959A5EFF695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9F32-4640-8579-C959A5EFF695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9F32-4640-8579-C959A5EFF695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9F32-4640-8579-C959A5EFF695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9F32-4640-8579-C959A5EFF695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9F32-4640-8579-C959A5EFF695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6-9F32-4640-8579-C959A5EFF695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FF0000"/>
                </a:solidFill>
                <a:ln w="9525">
                  <a:solidFill>
                    <a:schemeClr val="accent2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8-9F32-4640-8579-C959A5EFF695}"/>
              </c:ext>
            </c:extLst>
          </c:dPt>
          <c:dLbls>
            <c:dLbl>
              <c:idx val="0"/>
              <c:layout>
                <c:manualLayout>
                  <c:x val="-4.0167360487827847E-2"/>
                  <c:y val="0.1435185185185185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F32-4640-8579-C959A5EFF695}"/>
                </c:ext>
              </c:extLst>
            </c:dLbl>
            <c:dLbl>
              <c:idx val="1"/>
              <c:layout>
                <c:manualLayout>
                  <c:x val="-3.5704320433624752E-2"/>
                  <c:y val="0.1805555555555555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32-4640-8579-C959A5EFF695}"/>
                </c:ext>
              </c:extLst>
            </c:dLbl>
            <c:dLbl>
              <c:idx val="2"/>
              <c:layout>
                <c:manualLayout>
                  <c:x val="-3.3472800406523208E-2"/>
                  <c:y val="0.2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F32-4640-8579-C959A5EFF695}"/>
                </c:ext>
              </c:extLst>
            </c:dLbl>
            <c:dLbl>
              <c:idx val="3"/>
              <c:layout>
                <c:manualLayout>
                  <c:x val="-4.4630400542030983E-2"/>
                  <c:y val="7.4074074074074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9F32-4640-8579-C959A5EFF695}"/>
                </c:ext>
              </c:extLst>
            </c:dLbl>
            <c:dLbl>
              <c:idx val="4"/>
              <c:layout>
                <c:manualLayout>
                  <c:x val="-4.0167360487827847E-2"/>
                  <c:y val="0.157407407407407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9F32-4640-8579-C959A5EFF695}"/>
                </c:ext>
              </c:extLst>
            </c:dLbl>
            <c:dLbl>
              <c:idx val="5"/>
              <c:layout>
                <c:manualLayout>
                  <c:x val="-3.3472800406523208E-2"/>
                  <c:y val="0.1898148148148148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9F32-4640-8579-C959A5EFF695}"/>
                </c:ext>
              </c:extLst>
            </c:dLbl>
            <c:dLbl>
              <c:idx val="6"/>
              <c:layout>
                <c:manualLayout>
                  <c:x val="-4.016736048782793E-2"/>
                  <c:y val="7.87037037037037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9F32-4640-8579-C959A5EFF695}"/>
                </c:ext>
              </c:extLst>
            </c:dLbl>
            <c:dLbl>
              <c:idx val="7"/>
              <c:layout>
                <c:manualLayout>
                  <c:x val="-3.3472800406523291E-2"/>
                  <c:y val="0.1203703703703704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F32-4640-8579-C959A5EFF695}"/>
                </c:ext>
              </c:extLst>
            </c:dLbl>
            <c:dLbl>
              <c:idx val="8"/>
              <c:layout>
                <c:manualLayout>
                  <c:x val="-3.5704320433624752E-2"/>
                  <c:y val="8.33333333333333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9F32-4640-8579-C959A5EFF695}"/>
                </c:ext>
              </c:extLst>
            </c:dLbl>
            <c:dLbl>
              <c:idx val="9"/>
              <c:layout>
                <c:manualLayout>
                  <c:x val="-3.1241280379421577E-2"/>
                  <c:y val="-0.1064814814814814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9F32-4640-8579-C959A5EFF695}"/>
                </c:ext>
              </c:extLst>
            </c:dLbl>
            <c:dLbl>
              <c:idx val="10"/>
              <c:layout>
                <c:manualLayout>
                  <c:x val="-4.2398880514929398E-2"/>
                  <c:y val="-0.1018518518518518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9F32-4640-8579-C959A5EFF695}"/>
                </c:ext>
              </c:extLst>
            </c:dLbl>
            <c:dLbl>
              <c:idx val="11"/>
              <c:layout>
                <c:manualLayout>
                  <c:x val="-4.2398880514929398E-2"/>
                  <c:y val="9.259259259259258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9F32-4640-8579-C959A5EFF695}"/>
                </c:ext>
              </c:extLst>
            </c:dLbl>
            <c:spPr>
              <a:solidFill>
                <a:srgbClr val="FFFF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'Q2'!$E$4:$E$15</c:f>
              <c:strCache>
                <c:ptCount val="12"/>
                <c:pt idx="0">
                  <c:v>10_11</c:v>
                </c:pt>
                <c:pt idx="1">
                  <c:v>11_12</c:v>
                </c:pt>
                <c:pt idx="2">
                  <c:v>12_13</c:v>
                </c:pt>
                <c:pt idx="3">
                  <c:v>13_14</c:v>
                </c:pt>
                <c:pt idx="4">
                  <c:v>14_15</c:v>
                </c:pt>
                <c:pt idx="5">
                  <c:v>15_16</c:v>
                </c:pt>
                <c:pt idx="6">
                  <c:v>16_17</c:v>
                </c:pt>
                <c:pt idx="7">
                  <c:v>17_18</c:v>
                </c:pt>
                <c:pt idx="8">
                  <c:v>18_19</c:v>
                </c:pt>
                <c:pt idx="9">
                  <c:v>19_20</c:v>
                </c:pt>
                <c:pt idx="10">
                  <c:v>20_21</c:v>
                </c:pt>
                <c:pt idx="11">
                  <c:v>9_10</c:v>
                </c:pt>
              </c:strCache>
            </c:strRef>
          </c:cat>
          <c:val>
            <c:numRef>
              <c:f>'Q2'!$G$4:$G$15</c:f>
              <c:numCache>
                <c:formatCode>General</c:formatCode>
                <c:ptCount val="12"/>
                <c:pt idx="0">
                  <c:v>13313</c:v>
                </c:pt>
                <c:pt idx="1">
                  <c:v>14626</c:v>
                </c:pt>
                <c:pt idx="2">
                  <c:v>12652</c:v>
                </c:pt>
                <c:pt idx="3">
                  <c:v>11561</c:v>
                </c:pt>
                <c:pt idx="4">
                  <c:v>10561</c:v>
                </c:pt>
                <c:pt idx="5">
                  <c:v>9159</c:v>
                </c:pt>
                <c:pt idx="6">
                  <c:v>8788</c:v>
                </c:pt>
                <c:pt idx="7">
                  <c:v>8534</c:v>
                </c:pt>
                <c:pt idx="8">
                  <c:v>7238</c:v>
                </c:pt>
                <c:pt idx="9">
                  <c:v>6463</c:v>
                </c:pt>
                <c:pt idx="10">
                  <c:v>5505</c:v>
                </c:pt>
                <c:pt idx="11">
                  <c:v>9588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9-9F32-4640-8579-C959A5EFF6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6226512"/>
        <c:axId val="1049509296"/>
      </c:lineChart>
      <c:catAx>
        <c:axId val="1049639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FFF00"/>
          </a:solidFill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6449040"/>
        <c:crosses val="autoZero"/>
        <c:auto val="1"/>
        <c:lblAlgn val="ctr"/>
        <c:lblOffset val="100"/>
        <c:noMultiLvlLbl val="0"/>
      </c:catAx>
      <c:valAx>
        <c:axId val="89644904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9639856"/>
        <c:crosses val="autoZero"/>
        <c:crossBetween val="between"/>
      </c:valAx>
      <c:valAx>
        <c:axId val="1049509296"/>
        <c:scaling>
          <c:orientation val="minMax"/>
          <c:min val="5000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6226512"/>
        <c:crosses val="max"/>
        <c:crossBetween val="between"/>
      </c:valAx>
      <c:catAx>
        <c:axId val="10462265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495092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[ABC Call volume-Final Excel Sheet.xlsx]Q3-A!PivotTable5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/>
              <a:t>Count</a:t>
            </a:r>
            <a:r>
              <a:rPr lang="en-IN" baseline="0"/>
              <a:t> &amp; PCT count of average calls with status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1.6592591044144317E-2"/>
              <c:y val="-6.94444444444446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5.9259253729086851E-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4222220894980844E-2"/>
              <c:y val="-0.1527777777777777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4222220894980844E-2"/>
              <c:y val="-0.15277777777777779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1.6592591044144317E-2"/>
              <c:y val="-6.944444444444461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5.9259253729086851E-2"/>
              <c:y val="-5.5555555555555552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4222220894980844E-2"/>
              <c:y val="-0.15277777777777779"/>
            </c:manualLayout>
          </c:layout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1.6592591044144317E-2"/>
              <c:y val="-6.9444444444444614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5.9259253729086851E-2"/>
              <c:y val="-5.5555555555555552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4222220894980844E-2"/>
              <c:y val="-0.15277777777777779"/>
            </c:manualLayout>
          </c:layout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1.6592591044144317E-2"/>
              <c:y val="-6.9444444444444614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5.9259253729086851E-2"/>
              <c:y val="-5.5555555555555552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prstDash val="sysDash"/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-1.4222220894980844E-2"/>
              <c:y val="-0.15277777777777779"/>
            </c:manualLayout>
          </c:layout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1.6592591044144317E-2"/>
              <c:y val="-6.9444444444444614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34925" cap="rnd">
            <a:solidFill>
              <a:schemeClr val="accent3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circle"/>
          <c:size val="6"/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</c:marker>
        <c:dLbl>
          <c:idx val="0"/>
          <c:layout>
            <c:manualLayout>
              <c:x val="5.9259253729086851E-2"/>
              <c:y val="-5.5555555555555552E-2"/>
            </c:manualLayout>
          </c:layout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1"/>
          <c:order val="1"/>
          <c:tx>
            <c:strRef>
              <c:f>'Q3-A'!$F$3</c:f>
              <c:strCache>
                <c:ptCount val="1"/>
                <c:pt idx="0">
                  <c:v>PCT Count of Customer_Phone_No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'Q3-A'!$D$4:$D$7</c:f>
              <c:strCache>
                <c:ptCount val="3"/>
                <c:pt idx="0">
                  <c:v>abandon</c:v>
                </c:pt>
                <c:pt idx="1">
                  <c:v>answered</c:v>
                </c:pt>
                <c:pt idx="2">
                  <c:v>transfer</c:v>
                </c:pt>
              </c:strCache>
            </c:strRef>
          </c:cat>
          <c:val>
            <c:numRef>
              <c:f>'Q3-A'!$F$4:$F$7</c:f>
              <c:numCache>
                <c:formatCode>0.00%</c:formatCode>
                <c:ptCount val="3"/>
                <c:pt idx="0">
                  <c:v>0.29158049971183508</c:v>
                </c:pt>
                <c:pt idx="1">
                  <c:v>0.69881682883005047</c:v>
                </c:pt>
                <c:pt idx="2">
                  <c:v>9.6026714581143851E-3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B7-4BA7-ACB0-9E769DC13F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46231616"/>
        <c:axId val="1042909152"/>
      </c:barChart>
      <c:lineChart>
        <c:grouping val="standard"/>
        <c:varyColors val="0"/>
        <c:ser>
          <c:idx val="0"/>
          <c:order val="0"/>
          <c:tx>
            <c:strRef>
              <c:f>'Q3-A'!$E$3</c:f>
              <c:strCache>
                <c:ptCount val="1"/>
                <c:pt idx="0">
                  <c:v>Count of Customer_Phone_No</c:v>
                </c:pt>
              </c:strCache>
            </c:strRef>
          </c:tx>
          <c:spPr>
            <a:ln w="34925" cap="rnd">
              <a:solidFill>
                <a:schemeClr val="accent1"/>
              </a:solidFill>
              <a:prstDash val="sysDash"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Pt>
            <c:idx val="2"/>
            <c:marker>
              <c:symbol val="circle"/>
              <c:size val="6"/>
              <c:spPr>
                <a:gradFill rotWithShape="1">
                  <a:gsLst>
                    <a:gs pos="0">
                      <a:schemeClr val="accent1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1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1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1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1"/>
                </a:solidFill>
                <a:prstDash val="sysDash"/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43B7-4BA7-ACB0-9E769DC13F25}"/>
              </c:ext>
            </c:extLst>
          </c:dPt>
          <c:dLbls>
            <c:dLbl>
              <c:idx val="2"/>
              <c:layout>
                <c:manualLayout>
                  <c:x val="-1.4222220894980844E-2"/>
                  <c:y val="-0.1527777777777777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3B7-4BA7-ACB0-9E769DC13F25}"/>
                </c:ext>
              </c:extLst>
            </c:dLbl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'Q3-A'!$D$4:$D$7</c:f>
              <c:strCache>
                <c:ptCount val="3"/>
                <c:pt idx="0">
                  <c:v>abandon</c:v>
                </c:pt>
                <c:pt idx="1">
                  <c:v>answered</c:v>
                </c:pt>
                <c:pt idx="2">
                  <c:v>transfer</c:v>
                </c:pt>
              </c:strCache>
            </c:strRef>
          </c:cat>
          <c:val>
            <c:numRef>
              <c:f>'Q3-A'!$E$4:$E$7</c:f>
              <c:numCache>
                <c:formatCode>General</c:formatCode>
                <c:ptCount val="3"/>
                <c:pt idx="0">
                  <c:v>34403</c:v>
                </c:pt>
                <c:pt idx="1">
                  <c:v>82452</c:v>
                </c:pt>
                <c:pt idx="2">
                  <c:v>1133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3B7-4BA7-ACB0-9E769DC13F25}"/>
            </c:ext>
          </c:extLst>
        </c:ser>
        <c:ser>
          <c:idx val="2"/>
          <c:order val="2"/>
          <c:tx>
            <c:strRef>
              <c:f>'Q3-A'!$G$3</c:f>
              <c:strCache>
                <c:ptCount val="1"/>
                <c:pt idx="0">
                  <c:v>Average of Call duration(s)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dPt>
            <c:idx val="1"/>
            <c:marker>
              <c:symbol val="circle"/>
              <c:size val="6"/>
              <c:spPr>
                <a:gradFill rotWithShape="1">
                  <a:gsLst>
                    <a:gs pos="0">
                      <a:schemeClr val="accent3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3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3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3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B7-4BA7-ACB0-9E769DC13F25}"/>
              </c:ext>
            </c:extLst>
          </c:dPt>
          <c:dPt>
            <c:idx val="2"/>
            <c:marker>
              <c:symbol val="circle"/>
              <c:size val="6"/>
              <c:spPr>
                <a:gradFill rotWithShape="1">
                  <a:gsLst>
                    <a:gs pos="0">
                      <a:schemeClr val="accent3">
                        <a:satMod val="103000"/>
                        <a:lumMod val="102000"/>
                        <a:tint val="94000"/>
                      </a:schemeClr>
                    </a:gs>
                    <a:gs pos="50000">
                      <a:schemeClr val="accent3">
                        <a:satMod val="110000"/>
                        <a:lumMod val="100000"/>
                        <a:shade val="100000"/>
                      </a:schemeClr>
                    </a:gs>
                    <a:gs pos="100000">
                      <a:schemeClr val="accent3">
                        <a:lumMod val="99000"/>
                        <a:satMod val="120000"/>
                        <a:shade val="78000"/>
                      </a:schemeClr>
                    </a:gs>
                  </a:gsLst>
                  <a:lin ang="5400000" scaled="0"/>
                </a:gradFill>
                <a:ln w="9525">
                  <a:solidFill>
                    <a:schemeClr val="accent3"/>
                  </a:solidFill>
                  <a:round/>
                </a:ln>
                <a:effectLst>
                  <a:outerShdw blurRad="57150" dist="19050" dir="5400000" algn="ctr" rotWithShape="0">
                    <a:srgbClr val="000000">
                      <a:alpha val="63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threePt" dir="t">
                    <a:rot lat="0" lon="0" rev="1200000"/>
                  </a:lightRig>
                </a:scene3d>
                <a:sp3d>
                  <a:bevelT w="63500" h="25400"/>
                </a:sp3d>
              </c:spPr>
            </c:marker>
            <c:bubble3D val="0"/>
            <c:spPr>
              <a:ln w="34925" cap="rnd">
                <a:solidFill>
                  <a:schemeClr val="accent3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B7-4BA7-ACB0-9E769DC13F25}"/>
              </c:ext>
            </c:extLst>
          </c:dPt>
          <c:dLbls>
            <c:dLbl>
              <c:idx val="1"/>
              <c:layout>
                <c:manualLayout>
                  <c:x val="1.6592591044144317E-2"/>
                  <c:y val="-6.944444444444461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B7-4BA7-ACB0-9E769DC13F25}"/>
                </c:ext>
              </c:extLst>
            </c:dLbl>
            <c:dLbl>
              <c:idx val="2"/>
              <c:layout>
                <c:manualLayout>
                  <c:x val="5.9259253729086851E-2"/>
                  <c:y val="-5.555555555555555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3B7-4BA7-ACB0-9E769DC13F25}"/>
                </c:ext>
              </c:extLst>
            </c:dLbl>
            <c:spPr>
              <a:solidFill>
                <a:schemeClr val="bg2">
                  <a:lumMod val="7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'Q3-A'!$D$4:$D$7</c:f>
              <c:strCache>
                <c:ptCount val="3"/>
                <c:pt idx="0">
                  <c:v>abandon</c:v>
                </c:pt>
                <c:pt idx="1">
                  <c:v>answered</c:v>
                </c:pt>
                <c:pt idx="2">
                  <c:v>transfer</c:v>
                </c:pt>
              </c:strCache>
            </c:strRef>
          </c:cat>
          <c:val>
            <c:numRef>
              <c:f>'Q3-A'!$G$4:$G$7</c:f>
              <c:numCache>
                <c:formatCode>0</c:formatCode>
                <c:ptCount val="3"/>
                <c:pt idx="0">
                  <c:v>0</c:v>
                </c:pt>
                <c:pt idx="1">
                  <c:v>198.6227744627177</c:v>
                </c:pt>
                <c:pt idx="2">
                  <c:v>76.146513680494266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3B7-4BA7-ACB0-9E769DC13F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42860864"/>
        <c:axId val="1042912992"/>
      </c:lineChart>
      <c:catAx>
        <c:axId val="1242860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FFF00"/>
          </a:solidFill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912992"/>
        <c:crosses val="autoZero"/>
        <c:auto val="1"/>
        <c:lblAlgn val="ctr"/>
        <c:lblOffset val="100"/>
        <c:noMultiLvlLbl val="0"/>
      </c:catAx>
      <c:valAx>
        <c:axId val="10429129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2860864"/>
        <c:crosses val="autoZero"/>
        <c:crossBetween val="between"/>
      </c:valAx>
      <c:valAx>
        <c:axId val="1042909152"/>
        <c:scaling>
          <c:orientation val="minMax"/>
        </c:scaling>
        <c:delete val="0"/>
        <c:axPos val="t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6231616"/>
        <c:crosses val="max"/>
        <c:crossBetween val="between"/>
      </c:valAx>
      <c:catAx>
        <c:axId val="10462316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429091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Call Volume vs Agent Requirement Analysis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'Q4'!$B$3</c:f>
              <c:strCache>
                <c:ptCount val="1"/>
                <c:pt idx="0">
                  <c:v>Distribution of calls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'Q4'!$A$4:$A$15</c:f>
              <c:strCache>
                <c:ptCount val="12"/>
                <c:pt idx="0">
                  <c:v>9_10</c:v>
                </c:pt>
                <c:pt idx="1">
                  <c:v>10_11</c:v>
                </c:pt>
                <c:pt idx="2">
                  <c:v>11_12</c:v>
                </c:pt>
                <c:pt idx="3">
                  <c:v>12_13</c:v>
                </c:pt>
                <c:pt idx="4">
                  <c:v>13_14</c:v>
                </c:pt>
                <c:pt idx="5">
                  <c:v>14_15</c:v>
                </c:pt>
                <c:pt idx="6">
                  <c:v>15_16</c:v>
                </c:pt>
                <c:pt idx="7">
                  <c:v>16_17</c:v>
                </c:pt>
                <c:pt idx="8">
                  <c:v>17_18</c:v>
                </c:pt>
                <c:pt idx="9">
                  <c:v>18_19</c:v>
                </c:pt>
                <c:pt idx="10">
                  <c:v>19_20</c:v>
                </c:pt>
                <c:pt idx="11">
                  <c:v>20_21</c:v>
                </c:pt>
              </c:strCache>
            </c:strRef>
          </c:cat>
          <c:val>
            <c:numRef>
              <c:f>'Q4'!$B$4:$B$15</c:f>
              <c:numCache>
                <c:formatCode>General</c:formatCode>
                <c:ptCount val="12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3</c:v>
                </c:pt>
                <c:pt idx="9">
                  <c:v>4</c:v>
                </c:pt>
                <c:pt idx="10">
                  <c:v>4</c:v>
                </c:pt>
                <c:pt idx="1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38-456F-A286-630E37F767DA}"/>
            </c:ext>
          </c:extLst>
        </c:ser>
        <c:ser>
          <c:idx val="1"/>
          <c:order val="1"/>
          <c:tx>
            <c:strRef>
              <c:f>'Q4'!$C$3</c:f>
              <c:strCache>
                <c:ptCount val="1"/>
                <c:pt idx="0">
                  <c:v>Distribution of time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'Q4'!$A$4:$A$15</c:f>
              <c:strCache>
                <c:ptCount val="12"/>
                <c:pt idx="0">
                  <c:v>9_10</c:v>
                </c:pt>
                <c:pt idx="1">
                  <c:v>10_11</c:v>
                </c:pt>
                <c:pt idx="2">
                  <c:v>11_12</c:v>
                </c:pt>
                <c:pt idx="3">
                  <c:v>12_13</c:v>
                </c:pt>
                <c:pt idx="4">
                  <c:v>13_14</c:v>
                </c:pt>
                <c:pt idx="5">
                  <c:v>14_15</c:v>
                </c:pt>
                <c:pt idx="6">
                  <c:v>15_16</c:v>
                </c:pt>
                <c:pt idx="7">
                  <c:v>16_17</c:v>
                </c:pt>
                <c:pt idx="8">
                  <c:v>17_18</c:v>
                </c:pt>
                <c:pt idx="9">
                  <c:v>18_19</c:v>
                </c:pt>
                <c:pt idx="10">
                  <c:v>19_20</c:v>
                </c:pt>
                <c:pt idx="11">
                  <c:v>20_21</c:v>
                </c:pt>
              </c:strCache>
            </c:strRef>
          </c:cat>
          <c:val>
            <c:numRef>
              <c:f>'Q4'!$C$4:$C$15</c:f>
              <c:numCache>
                <c:formatCode>General</c:formatCode>
                <c:ptCount val="12"/>
                <c:pt idx="0">
                  <c:v>10</c:v>
                </c:pt>
                <c:pt idx="1">
                  <c:v>10</c:v>
                </c:pt>
                <c:pt idx="2">
                  <c:v>15</c:v>
                </c:pt>
                <c:pt idx="3">
                  <c:v>15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10</c:v>
                </c:pt>
                <c:pt idx="9">
                  <c:v>7.5</c:v>
                </c:pt>
                <c:pt idx="10">
                  <c:v>7.5</c:v>
                </c:pt>
                <c:pt idx="1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838-456F-A286-630E37F767DA}"/>
            </c:ext>
          </c:extLst>
        </c:ser>
        <c:ser>
          <c:idx val="2"/>
          <c:order val="2"/>
          <c:tx>
            <c:strRef>
              <c:f>'Q4'!$D$3</c:f>
              <c:strCache>
                <c:ptCount val="1"/>
                <c:pt idx="0">
                  <c:v>Agents required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'Q4'!$A$4:$A$15</c:f>
              <c:strCache>
                <c:ptCount val="12"/>
                <c:pt idx="0">
                  <c:v>9_10</c:v>
                </c:pt>
                <c:pt idx="1">
                  <c:v>10_11</c:v>
                </c:pt>
                <c:pt idx="2">
                  <c:v>11_12</c:v>
                </c:pt>
                <c:pt idx="3">
                  <c:v>12_13</c:v>
                </c:pt>
                <c:pt idx="4">
                  <c:v>13_14</c:v>
                </c:pt>
                <c:pt idx="5">
                  <c:v>14_15</c:v>
                </c:pt>
                <c:pt idx="6">
                  <c:v>15_16</c:v>
                </c:pt>
                <c:pt idx="7">
                  <c:v>16_17</c:v>
                </c:pt>
                <c:pt idx="8">
                  <c:v>17_18</c:v>
                </c:pt>
                <c:pt idx="9">
                  <c:v>18_19</c:v>
                </c:pt>
                <c:pt idx="10">
                  <c:v>19_20</c:v>
                </c:pt>
                <c:pt idx="11">
                  <c:v>20_21</c:v>
                </c:pt>
              </c:strCache>
            </c:strRef>
          </c:cat>
          <c:val>
            <c:numRef>
              <c:f>'Q4'!$D$4:$D$15</c:f>
              <c:numCache>
                <c:formatCode>0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838-456F-A286-630E37F767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954017760"/>
        <c:axId val="954019680"/>
        <c:axId val="0"/>
      </c:bar3DChart>
      <c:catAx>
        <c:axId val="954017760"/>
        <c:scaling>
          <c:orientation val="minMax"/>
        </c:scaling>
        <c:delete val="0"/>
        <c:axPos val="b"/>
        <c:numFmt formatCode="#,##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019680"/>
        <c:crosses val="autoZero"/>
        <c:auto val="1"/>
        <c:lblAlgn val="ctr"/>
        <c:lblOffset val="100"/>
        <c:noMultiLvlLbl val="0"/>
      </c:catAx>
      <c:valAx>
        <c:axId val="954019680"/>
        <c:scaling>
          <c:orientation val="minMax"/>
        </c:scaling>
        <c:delete val="0"/>
        <c:axPos val="l"/>
        <c:numFmt formatCode="0.00%" sourceLinked="0"/>
        <c:majorTickMark val="none"/>
        <c:minorTickMark val="none"/>
        <c:tickLblPos val="nextTo"/>
        <c:spPr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4017760"/>
        <c:crosses val="autoZero"/>
        <c:crossBetween val="between"/>
      </c:valAx>
      <c:spPr>
        <a:gradFill>
          <a:gsLst>
            <a:gs pos="5000">
              <a:schemeClr val="accent4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 u="sng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399031"/>
            <a:ext cx="2851785" cy="5459095"/>
          </a:xfrm>
          <a:custGeom>
            <a:avLst/>
            <a:gdLst/>
            <a:ahLst/>
            <a:cxnLst/>
            <a:rect l="l" t="t" r="r" b="b"/>
            <a:pathLst>
              <a:path w="2851785" h="5459095">
                <a:moveTo>
                  <a:pt x="100634" y="1802257"/>
                </a:moveTo>
                <a:lnTo>
                  <a:pt x="95618" y="1750237"/>
                </a:lnTo>
                <a:lnTo>
                  <a:pt x="82778" y="1596351"/>
                </a:lnTo>
                <a:lnTo>
                  <a:pt x="77762" y="1544320"/>
                </a:lnTo>
                <a:lnTo>
                  <a:pt x="66255" y="1492783"/>
                </a:lnTo>
                <a:lnTo>
                  <a:pt x="55143" y="1440738"/>
                </a:lnTo>
                <a:lnTo>
                  <a:pt x="22618" y="1282484"/>
                </a:lnTo>
                <a:lnTo>
                  <a:pt x="11506" y="1229296"/>
                </a:lnTo>
                <a:lnTo>
                  <a:pt x="0" y="1176020"/>
                </a:lnTo>
                <a:lnTo>
                  <a:pt x="0" y="1337183"/>
                </a:lnTo>
                <a:lnTo>
                  <a:pt x="10490" y="1387449"/>
                </a:lnTo>
                <a:lnTo>
                  <a:pt x="32562" y="1489087"/>
                </a:lnTo>
                <a:lnTo>
                  <a:pt x="55702" y="1591818"/>
                </a:lnTo>
                <a:lnTo>
                  <a:pt x="91490" y="1747012"/>
                </a:lnTo>
                <a:lnTo>
                  <a:pt x="92278" y="1760829"/>
                </a:lnTo>
                <a:lnTo>
                  <a:pt x="94348" y="1774634"/>
                </a:lnTo>
                <a:lnTo>
                  <a:pt x="97282" y="1788452"/>
                </a:lnTo>
                <a:lnTo>
                  <a:pt x="100634" y="1802257"/>
                </a:lnTo>
                <a:close/>
              </a:path>
              <a:path w="2851785" h="5459095">
                <a:moveTo>
                  <a:pt x="775309" y="3959860"/>
                </a:moveTo>
                <a:lnTo>
                  <a:pt x="741527" y="3868115"/>
                </a:lnTo>
                <a:lnTo>
                  <a:pt x="708393" y="3775824"/>
                </a:lnTo>
                <a:lnTo>
                  <a:pt x="675919" y="3683076"/>
                </a:lnTo>
                <a:lnTo>
                  <a:pt x="644105" y="3589972"/>
                </a:lnTo>
                <a:lnTo>
                  <a:pt x="612952" y="3496627"/>
                </a:lnTo>
                <a:lnTo>
                  <a:pt x="582447" y="3403130"/>
                </a:lnTo>
                <a:lnTo>
                  <a:pt x="536663" y="3260763"/>
                </a:lnTo>
                <a:lnTo>
                  <a:pt x="506488" y="3164954"/>
                </a:lnTo>
                <a:lnTo>
                  <a:pt x="476897" y="3068955"/>
                </a:lnTo>
                <a:lnTo>
                  <a:pt x="447890" y="2972778"/>
                </a:lnTo>
                <a:lnTo>
                  <a:pt x="419430" y="2876423"/>
                </a:lnTo>
                <a:lnTo>
                  <a:pt x="391528" y="2779890"/>
                </a:lnTo>
                <a:lnTo>
                  <a:pt x="364159" y="2683192"/>
                </a:lnTo>
                <a:lnTo>
                  <a:pt x="337324" y="2586342"/>
                </a:lnTo>
                <a:lnTo>
                  <a:pt x="310997" y="2489339"/>
                </a:lnTo>
                <a:lnTo>
                  <a:pt x="285165" y="2392184"/>
                </a:lnTo>
                <a:lnTo>
                  <a:pt x="247332" y="2246185"/>
                </a:lnTo>
                <a:lnTo>
                  <a:pt x="210540" y="2099906"/>
                </a:lnTo>
                <a:lnTo>
                  <a:pt x="174777" y="1953348"/>
                </a:lnTo>
                <a:lnTo>
                  <a:pt x="139979" y="1806549"/>
                </a:lnTo>
                <a:lnTo>
                  <a:pt x="128600" y="1757553"/>
                </a:lnTo>
                <a:lnTo>
                  <a:pt x="156311" y="2038604"/>
                </a:lnTo>
                <a:lnTo>
                  <a:pt x="206222" y="2237206"/>
                </a:lnTo>
                <a:lnTo>
                  <a:pt x="244563" y="2386050"/>
                </a:lnTo>
                <a:lnTo>
                  <a:pt x="283768" y="2534716"/>
                </a:lnTo>
                <a:lnTo>
                  <a:pt x="323900" y="2683129"/>
                </a:lnTo>
                <a:lnTo>
                  <a:pt x="365061" y="2831223"/>
                </a:lnTo>
                <a:lnTo>
                  <a:pt x="393103" y="2929725"/>
                </a:lnTo>
                <a:lnTo>
                  <a:pt x="421640" y="3028035"/>
                </a:lnTo>
                <a:lnTo>
                  <a:pt x="450710" y="3126117"/>
                </a:lnTo>
                <a:lnTo>
                  <a:pt x="480339" y="3223958"/>
                </a:lnTo>
                <a:lnTo>
                  <a:pt x="510540" y="3321532"/>
                </a:lnTo>
                <a:lnTo>
                  <a:pt x="525868" y="3370199"/>
                </a:lnTo>
                <a:lnTo>
                  <a:pt x="588860" y="3560940"/>
                </a:lnTo>
                <a:lnTo>
                  <a:pt x="636739" y="3703028"/>
                </a:lnTo>
                <a:lnTo>
                  <a:pt x="669213" y="3797427"/>
                </a:lnTo>
                <a:lnTo>
                  <a:pt x="702271" y="3891635"/>
                </a:lnTo>
                <a:lnTo>
                  <a:pt x="736053" y="3985717"/>
                </a:lnTo>
                <a:lnTo>
                  <a:pt x="770699" y="4079748"/>
                </a:lnTo>
                <a:lnTo>
                  <a:pt x="770763" y="4049344"/>
                </a:lnTo>
                <a:lnTo>
                  <a:pt x="771271" y="4019804"/>
                </a:lnTo>
                <a:lnTo>
                  <a:pt x="772642" y="3990276"/>
                </a:lnTo>
                <a:lnTo>
                  <a:pt x="775309" y="3959860"/>
                </a:lnTo>
                <a:close/>
              </a:path>
              <a:path w="2851785" h="5459095">
                <a:moveTo>
                  <a:pt x="959827" y="5104765"/>
                </a:moveTo>
                <a:lnTo>
                  <a:pt x="945921" y="5058588"/>
                </a:lnTo>
                <a:lnTo>
                  <a:pt x="931202" y="5008219"/>
                </a:lnTo>
                <a:lnTo>
                  <a:pt x="917371" y="4957851"/>
                </a:lnTo>
                <a:lnTo>
                  <a:pt x="904430" y="4907483"/>
                </a:lnTo>
                <a:lnTo>
                  <a:pt x="892352" y="4857115"/>
                </a:lnTo>
                <a:lnTo>
                  <a:pt x="881100" y="4806747"/>
                </a:lnTo>
                <a:lnTo>
                  <a:pt x="870661" y="4756378"/>
                </a:lnTo>
                <a:lnTo>
                  <a:pt x="861021" y="4706010"/>
                </a:lnTo>
                <a:lnTo>
                  <a:pt x="852157" y="4655629"/>
                </a:lnTo>
                <a:lnTo>
                  <a:pt x="844042" y="4605261"/>
                </a:lnTo>
                <a:lnTo>
                  <a:pt x="836663" y="4554893"/>
                </a:lnTo>
                <a:lnTo>
                  <a:pt x="829995" y="4504512"/>
                </a:lnTo>
                <a:lnTo>
                  <a:pt x="820889" y="4395076"/>
                </a:lnTo>
                <a:lnTo>
                  <a:pt x="816660" y="4341190"/>
                </a:lnTo>
                <a:lnTo>
                  <a:pt x="812825" y="4287685"/>
                </a:lnTo>
                <a:lnTo>
                  <a:pt x="809498" y="4234459"/>
                </a:lnTo>
                <a:lnTo>
                  <a:pt x="806818" y="4181348"/>
                </a:lnTo>
                <a:lnTo>
                  <a:pt x="806818" y="4176649"/>
                </a:lnTo>
                <a:lnTo>
                  <a:pt x="802182" y="4172077"/>
                </a:lnTo>
                <a:lnTo>
                  <a:pt x="802182" y="4162806"/>
                </a:lnTo>
                <a:lnTo>
                  <a:pt x="794499" y="4142041"/>
                </a:lnTo>
                <a:lnTo>
                  <a:pt x="777392" y="4100512"/>
                </a:lnTo>
                <a:lnTo>
                  <a:pt x="769721" y="4079748"/>
                </a:lnTo>
                <a:lnTo>
                  <a:pt x="770140" y="4133418"/>
                </a:lnTo>
                <a:lnTo>
                  <a:pt x="771385" y="4187088"/>
                </a:lnTo>
                <a:lnTo>
                  <a:pt x="773379" y="4240758"/>
                </a:lnTo>
                <a:lnTo>
                  <a:pt x="776084" y="4294429"/>
                </a:lnTo>
                <a:lnTo>
                  <a:pt x="779449" y="4348111"/>
                </a:lnTo>
                <a:lnTo>
                  <a:pt x="783412" y="4401782"/>
                </a:lnTo>
                <a:lnTo>
                  <a:pt x="787908" y="4455452"/>
                </a:lnTo>
                <a:lnTo>
                  <a:pt x="792911" y="4509122"/>
                </a:lnTo>
                <a:lnTo>
                  <a:pt x="799147" y="4556874"/>
                </a:lnTo>
                <a:lnTo>
                  <a:pt x="805954" y="4605032"/>
                </a:lnTo>
                <a:lnTo>
                  <a:pt x="813346" y="4653432"/>
                </a:lnTo>
                <a:lnTo>
                  <a:pt x="821283" y="4701895"/>
                </a:lnTo>
                <a:lnTo>
                  <a:pt x="829805" y="4750295"/>
                </a:lnTo>
                <a:lnTo>
                  <a:pt x="838885" y="4798453"/>
                </a:lnTo>
                <a:lnTo>
                  <a:pt x="847940" y="4843208"/>
                </a:lnTo>
                <a:lnTo>
                  <a:pt x="829233" y="4796625"/>
                </a:lnTo>
                <a:lnTo>
                  <a:pt x="810171" y="4748212"/>
                </a:lnTo>
                <a:lnTo>
                  <a:pt x="791451" y="4699800"/>
                </a:lnTo>
                <a:lnTo>
                  <a:pt x="773074" y="4651400"/>
                </a:lnTo>
                <a:lnTo>
                  <a:pt x="755027" y="4602988"/>
                </a:lnTo>
                <a:lnTo>
                  <a:pt x="737273" y="4554575"/>
                </a:lnTo>
                <a:lnTo>
                  <a:pt x="719810" y="4506163"/>
                </a:lnTo>
                <a:lnTo>
                  <a:pt x="685685" y="4409351"/>
                </a:lnTo>
                <a:lnTo>
                  <a:pt x="652526" y="4312539"/>
                </a:lnTo>
                <a:lnTo>
                  <a:pt x="636270" y="4264126"/>
                </a:lnTo>
                <a:lnTo>
                  <a:pt x="620560" y="4216171"/>
                </a:lnTo>
                <a:lnTo>
                  <a:pt x="605091" y="4168102"/>
                </a:lnTo>
                <a:lnTo>
                  <a:pt x="589876" y="4119943"/>
                </a:lnTo>
                <a:lnTo>
                  <a:pt x="574903" y="4071670"/>
                </a:lnTo>
                <a:lnTo>
                  <a:pt x="560171" y="4023309"/>
                </a:lnTo>
                <a:lnTo>
                  <a:pt x="545680" y="3974846"/>
                </a:lnTo>
                <a:lnTo>
                  <a:pt x="517423" y="3877665"/>
                </a:lnTo>
                <a:lnTo>
                  <a:pt x="490105" y="3780129"/>
                </a:lnTo>
                <a:lnTo>
                  <a:pt x="463727" y="3682276"/>
                </a:lnTo>
                <a:lnTo>
                  <a:pt x="438289" y="3584117"/>
                </a:lnTo>
                <a:lnTo>
                  <a:pt x="413766" y="3485680"/>
                </a:lnTo>
                <a:lnTo>
                  <a:pt x="390144" y="3386975"/>
                </a:lnTo>
                <a:lnTo>
                  <a:pt x="367423" y="3288030"/>
                </a:lnTo>
                <a:lnTo>
                  <a:pt x="345592" y="3188868"/>
                </a:lnTo>
                <a:lnTo>
                  <a:pt x="324650" y="3089503"/>
                </a:lnTo>
                <a:lnTo>
                  <a:pt x="304558" y="2989973"/>
                </a:lnTo>
                <a:lnTo>
                  <a:pt x="285343" y="2890266"/>
                </a:lnTo>
                <a:lnTo>
                  <a:pt x="267779" y="2790850"/>
                </a:lnTo>
                <a:lnTo>
                  <a:pt x="250952" y="2691079"/>
                </a:lnTo>
                <a:lnTo>
                  <a:pt x="234797" y="2591003"/>
                </a:lnTo>
                <a:lnTo>
                  <a:pt x="219278" y="2490686"/>
                </a:lnTo>
                <a:lnTo>
                  <a:pt x="204343" y="2390152"/>
                </a:lnTo>
                <a:lnTo>
                  <a:pt x="189953" y="2289467"/>
                </a:lnTo>
                <a:lnTo>
                  <a:pt x="169291" y="2138235"/>
                </a:lnTo>
                <a:lnTo>
                  <a:pt x="156057" y="2037334"/>
                </a:lnTo>
                <a:lnTo>
                  <a:pt x="100634" y="1802257"/>
                </a:lnTo>
                <a:lnTo>
                  <a:pt x="111048" y="1901698"/>
                </a:lnTo>
                <a:lnTo>
                  <a:pt x="122161" y="2001304"/>
                </a:lnTo>
                <a:lnTo>
                  <a:pt x="133946" y="2101011"/>
                </a:lnTo>
                <a:lnTo>
                  <a:pt x="146431" y="2200757"/>
                </a:lnTo>
                <a:lnTo>
                  <a:pt x="159600" y="2300478"/>
                </a:lnTo>
                <a:lnTo>
                  <a:pt x="173443" y="2400122"/>
                </a:lnTo>
                <a:lnTo>
                  <a:pt x="187985" y="2499614"/>
                </a:lnTo>
                <a:lnTo>
                  <a:pt x="203212" y="2598890"/>
                </a:lnTo>
                <a:lnTo>
                  <a:pt x="219125" y="2697899"/>
                </a:lnTo>
                <a:lnTo>
                  <a:pt x="235724" y="2796565"/>
                </a:lnTo>
                <a:lnTo>
                  <a:pt x="262039" y="2945193"/>
                </a:lnTo>
                <a:lnTo>
                  <a:pt x="280835" y="3045688"/>
                </a:lnTo>
                <a:lnTo>
                  <a:pt x="300609" y="3145891"/>
                </a:lnTo>
                <a:lnTo>
                  <a:pt x="321335" y="3245815"/>
                </a:lnTo>
                <a:lnTo>
                  <a:pt x="343027" y="3345459"/>
                </a:lnTo>
                <a:lnTo>
                  <a:pt x="365658" y="3444811"/>
                </a:lnTo>
                <a:lnTo>
                  <a:pt x="389216" y="3543897"/>
                </a:lnTo>
                <a:lnTo>
                  <a:pt x="413715" y="3642690"/>
                </a:lnTo>
                <a:lnTo>
                  <a:pt x="439115" y="3741191"/>
                </a:lnTo>
                <a:lnTo>
                  <a:pt x="465416" y="3839426"/>
                </a:lnTo>
                <a:lnTo>
                  <a:pt x="492620" y="3937368"/>
                </a:lnTo>
                <a:lnTo>
                  <a:pt x="520700" y="4035031"/>
                </a:lnTo>
                <a:lnTo>
                  <a:pt x="549656" y="4132415"/>
                </a:lnTo>
                <a:lnTo>
                  <a:pt x="579475" y="4229519"/>
                </a:lnTo>
                <a:lnTo>
                  <a:pt x="594715" y="4277957"/>
                </a:lnTo>
                <a:lnTo>
                  <a:pt x="610679" y="4326306"/>
                </a:lnTo>
                <a:lnTo>
                  <a:pt x="626922" y="4374502"/>
                </a:lnTo>
                <a:lnTo>
                  <a:pt x="643432" y="4422559"/>
                </a:lnTo>
                <a:lnTo>
                  <a:pt x="660184" y="4470463"/>
                </a:lnTo>
                <a:lnTo>
                  <a:pt x="677189" y="4518241"/>
                </a:lnTo>
                <a:lnTo>
                  <a:pt x="694423" y="4565866"/>
                </a:lnTo>
                <a:lnTo>
                  <a:pt x="729538" y="4660709"/>
                </a:lnTo>
                <a:lnTo>
                  <a:pt x="765467" y="4754981"/>
                </a:lnTo>
                <a:lnTo>
                  <a:pt x="802119" y="4848695"/>
                </a:lnTo>
                <a:lnTo>
                  <a:pt x="839431" y="4941836"/>
                </a:lnTo>
                <a:lnTo>
                  <a:pt x="860209" y="4989525"/>
                </a:lnTo>
                <a:lnTo>
                  <a:pt x="901763" y="5083175"/>
                </a:lnTo>
                <a:lnTo>
                  <a:pt x="922553" y="5130863"/>
                </a:lnTo>
                <a:lnTo>
                  <a:pt x="916419" y="5114302"/>
                </a:lnTo>
                <a:lnTo>
                  <a:pt x="911580" y="5098593"/>
                </a:lnTo>
                <a:lnTo>
                  <a:pt x="907605" y="5082883"/>
                </a:lnTo>
                <a:lnTo>
                  <a:pt x="904074" y="5066309"/>
                </a:lnTo>
                <a:lnTo>
                  <a:pt x="887628" y="5010988"/>
                </a:lnTo>
                <a:lnTo>
                  <a:pt x="872909" y="4955667"/>
                </a:lnTo>
                <a:lnTo>
                  <a:pt x="859917" y="4900346"/>
                </a:lnTo>
                <a:lnTo>
                  <a:pt x="849350" y="4848403"/>
                </a:lnTo>
                <a:lnTo>
                  <a:pt x="856221" y="4866983"/>
                </a:lnTo>
                <a:lnTo>
                  <a:pt x="873315" y="4908537"/>
                </a:lnTo>
                <a:lnTo>
                  <a:pt x="880999" y="4929302"/>
                </a:lnTo>
                <a:lnTo>
                  <a:pt x="901141" y="4973612"/>
                </a:lnTo>
                <a:lnTo>
                  <a:pt x="939673" y="5060480"/>
                </a:lnTo>
                <a:lnTo>
                  <a:pt x="959827" y="5104765"/>
                </a:lnTo>
                <a:close/>
              </a:path>
              <a:path w="2851785" h="5459095">
                <a:moveTo>
                  <a:pt x="1080084" y="5458968"/>
                </a:moveTo>
                <a:lnTo>
                  <a:pt x="1037145" y="5372227"/>
                </a:lnTo>
                <a:lnTo>
                  <a:pt x="990257" y="5275275"/>
                </a:lnTo>
                <a:lnTo>
                  <a:pt x="967244" y="5226837"/>
                </a:lnTo>
                <a:lnTo>
                  <a:pt x="944651" y="5178653"/>
                </a:lnTo>
                <a:lnTo>
                  <a:pt x="922553" y="5130863"/>
                </a:lnTo>
                <a:lnTo>
                  <a:pt x="936993" y="5178653"/>
                </a:lnTo>
                <a:lnTo>
                  <a:pt x="952500" y="5226837"/>
                </a:lnTo>
                <a:lnTo>
                  <a:pt x="968971" y="5275275"/>
                </a:lnTo>
                <a:lnTo>
                  <a:pt x="986345" y="5323789"/>
                </a:lnTo>
                <a:lnTo>
                  <a:pt x="1004531" y="5372227"/>
                </a:lnTo>
                <a:lnTo>
                  <a:pt x="1023429" y="5420411"/>
                </a:lnTo>
                <a:lnTo>
                  <a:pt x="1039215" y="5458968"/>
                </a:lnTo>
                <a:lnTo>
                  <a:pt x="1080084" y="5458968"/>
                </a:lnTo>
                <a:close/>
              </a:path>
              <a:path w="2851785" h="5459095">
                <a:moveTo>
                  <a:pt x="1126680" y="5458968"/>
                </a:moveTo>
                <a:lnTo>
                  <a:pt x="1108900" y="5423344"/>
                </a:lnTo>
                <a:lnTo>
                  <a:pt x="1086891" y="5378424"/>
                </a:lnTo>
                <a:lnTo>
                  <a:pt x="1065225" y="5333403"/>
                </a:lnTo>
                <a:lnTo>
                  <a:pt x="1043813" y="5288216"/>
                </a:lnTo>
                <a:lnTo>
                  <a:pt x="1022629" y="5242814"/>
                </a:lnTo>
                <a:lnTo>
                  <a:pt x="980681" y="5151145"/>
                </a:lnTo>
                <a:lnTo>
                  <a:pt x="959827" y="5104765"/>
                </a:lnTo>
                <a:lnTo>
                  <a:pt x="973950" y="5151145"/>
                </a:lnTo>
                <a:lnTo>
                  <a:pt x="988568" y="5197132"/>
                </a:lnTo>
                <a:lnTo>
                  <a:pt x="1003731" y="5242814"/>
                </a:lnTo>
                <a:lnTo>
                  <a:pt x="1019479" y="5288216"/>
                </a:lnTo>
                <a:lnTo>
                  <a:pt x="1035888" y="5333403"/>
                </a:lnTo>
                <a:lnTo>
                  <a:pt x="1053007" y="5378424"/>
                </a:lnTo>
                <a:lnTo>
                  <a:pt x="1070889" y="5423344"/>
                </a:lnTo>
                <a:lnTo>
                  <a:pt x="1085735" y="5458968"/>
                </a:lnTo>
                <a:lnTo>
                  <a:pt x="1126680" y="5458968"/>
                </a:lnTo>
                <a:close/>
              </a:path>
              <a:path w="2851785" h="5459095">
                <a:moveTo>
                  <a:pt x="1411922" y="5458968"/>
                </a:moveTo>
                <a:lnTo>
                  <a:pt x="1329029" y="5288204"/>
                </a:lnTo>
                <a:lnTo>
                  <a:pt x="1285989" y="5197881"/>
                </a:lnTo>
                <a:lnTo>
                  <a:pt x="1243711" y="5107178"/>
                </a:lnTo>
                <a:lnTo>
                  <a:pt x="1222946" y="5061648"/>
                </a:lnTo>
                <a:lnTo>
                  <a:pt x="1202474" y="5015966"/>
                </a:lnTo>
                <a:lnTo>
                  <a:pt x="1182306" y="4970132"/>
                </a:lnTo>
                <a:lnTo>
                  <a:pt x="1162507" y="4924107"/>
                </a:lnTo>
                <a:lnTo>
                  <a:pt x="1119644" y="4828794"/>
                </a:lnTo>
                <a:lnTo>
                  <a:pt x="1077658" y="4733048"/>
                </a:lnTo>
                <a:lnTo>
                  <a:pt x="1036535" y="4636859"/>
                </a:lnTo>
                <a:lnTo>
                  <a:pt x="996289" y="4540250"/>
                </a:lnTo>
                <a:lnTo>
                  <a:pt x="956906" y="4443196"/>
                </a:lnTo>
                <a:lnTo>
                  <a:pt x="918375" y="4345724"/>
                </a:lnTo>
                <a:lnTo>
                  <a:pt x="880719" y="4247820"/>
                </a:lnTo>
                <a:lnTo>
                  <a:pt x="843940" y="4149471"/>
                </a:lnTo>
                <a:lnTo>
                  <a:pt x="833615" y="4125214"/>
                </a:lnTo>
                <a:lnTo>
                  <a:pt x="823734" y="4100499"/>
                </a:lnTo>
                <a:lnTo>
                  <a:pt x="814705" y="4074909"/>
                </a:lnTo>
                <a:lnTo>
                  <a:pt x="806996" y="4047998"/>
                </a:lnTo>
                <a:lnTo>
                  <a:pt x="806996" y="4181729"/>
                </a:lnTo>
                <a:lnTo>
                  <a:pt x="843775" y="4278350"/>
                </a:lnTo>
                <a:lnTo>
                  <a:pt x="881367" y="4374540"/>
                </a:lnTo>
                <a:lnTo>
                  <a:pt x="919721" y="4470298"/>
                </a:lnTo>
                <a:lnTo>
                  <a:pt x="958773" y="4565612"/>
                </a:lnTo>
                <a:lnTo>
                  <a:pt x="998486" y="4660493"/>
                </a:lnTo>
                <a:lnTo>
                  <a:pt x="1038783" y="4754956"/>
                </a:lnTo>
                <a:lnTo>
                  <a:pt x="1079614" y="4848974"/>
                </a:lnTo>
                <a:lnTo>
                  <a:pt x="1120952" y="4942548"/>
                </a:lnTo>
                <a:lnTo>
                  <a:pt x="1142568" y="4990338"/>
                </a:lnTo>
                <a:lnTo>
                  <a:pt x="1164615" y="5038128"/>
                </a:lnTo>
                <a:lnTo>
                  <a:pt x="1187030" y="5085918"/>
                </a:lnTo>
                <a:lnTo>
                  <a:pt x="1209789" y="5133695"/>
                </a:lnTo>
                <a:lnTo>
                  <a:pt x="1256118" y="5229276"/>
                </a:lnTo>
                <a:lnTo>
                  <a:pt x="1327086" y="5372633"/>
                </a:lnTo>
                <a:lnTo>
                  <a:pt x="1370279" y="5458968"/>
                </a:lnTo>
                <a:lnTo>
                  <a:pt x="1411922" y="5458968"/>
                </a:lnTo>
                <a:close/>
              </a:path>
              <a:path w="2851785" h="5459095">
                <a:moveTo>
                  <a:pt x="2851531" y="0"/>
                </a:moveTo>
                <a:lnTo>
                  <a:pt x="2815336" y="32283"/>
                </a:lnTo>
                <a:lnTo>
                  <a:pt x="2780284" y="64693"/>
                </a:lnTo>
                <a:lnTo>
                  <a:pt x="2745994" y="97370"/>
                </a:lnTo>
                <a:lnTo>
                  <a:pt x="2712085" y="130429"/>
                </a:lnTo>
                <a:lnTo>
                  <a:pt x="2643886" y="198247"/>
                </a:lnTo>
                <a:lnTo>
                  <a:pt x="2611564" y="230898"/>
                </a:lnTo>
                <a:lnTo>
                  <a:pt x="2579268" y="264325"/>
                </a:lnTo>
                <a:lnTo>
                  <a:pt x="2546972" y="298538"/>
                </a:lnTo>
                <a:lnTo>
                  <a:pt x="2514689" y="333514"/>
                </a:lnTo>
                <a:lnTo>
                  <a:pt x="2482392" y="369265"/>
                </a:lnTo>
                <a:lnTo>
                  <a:pt x="2450084" y="405765"/>
                </a:lnTo>
                <a:lnTo>
                  <a:pt x="2414968" y="443598"/>
                </a:lnTo>
                <a:lnTo>
                  <a:pt x="2380107" y="481660"/>
                </a:lnTo>
                <a:lnTo>
                  <a:pt x="2345512" y="519950"/>
                </a:lnTo>
                <a:lnTo>
                  <a:pt x="2311222" y="558469"/>
                </a:lnTo>
                <a:lnTo>
                  <a:pt x="2277224" y="597217"/>
                </a:lnTo>
                <a:lnTo>
                  <a:pt x="2243569" y="636181"/>
                </a:lnTo>
                <a:lnTo>
                  <a:pt x="2210270" y="675386"/>
                </a:lnTo>
                <a:lnTo>
                  <a:pt x="2177338" y="714832"/>
                </a:lnTo>
                <a:lnTo>
                  <a:pt x="2144801" y="754494"/>
                </a:lnTo>
                <a:lnTo>
                  <a:pt x="2112695" y="794397"/>
                </a:lnTo>
                <a:lnTo>
                  <a:pt x="2081022" y="834517"/>
                </a:lnTo>
                <a:lnTo>
                  <a:pt x="2049043" y="875474"/>
                </a:lnTo>
                <a:lnTo>
                  <a:pt x="2017306" y="916609"/>
                </a:lnTo>
                <a:lnTo>
                  <a:pt x="1985810" y="957910"/>
                </a:lnTo>
                <a:lnTo>
                  <a:pt x="1954580" y="999401"/>
                </a:lnTo>
                <a:lnTo>
                  <a:pt x="1923592" y="1041057"/>
                </a:lnTo>
                <a:lnTo>
                  <a:pt x="1892884" y="1082903"/>
                </a:lnTo>
                <a:lnTo>
                  <a:pt x="1862455" y="1124940"/>
                </a:lnTo>
                <a:lnTo>
                  <a:pt x="1832305" y="1167168"/>
                </a:lnTo>
                <a:lnTo>
                  <a:pt x="1802447" y="1209573"/>
                </a:lnTo>
                <a:lnTo>
                  <a:pt x="1772894" y="1252181"/>
                </a:lnTo>
                <a:lnTo>
                  <a:pt x="1743633" y="1294993"/>
                </a:lnTo>
                <a:lnTo>
                  <a:pt x="1714703" y="1337995"/>
                </a:lnTo>
                <a:lnTo>
                  <a:pt x="1686090" y="1381213"/>
                </a:lnTo>
                <a:lnTo>
                  <a:pt x="1657807" y="1424622"/>
                </a:lnTo>
                <a:lnTo>
                  <a:pt x="1629867" y="1468247"/>
                </a:lnTo>
                <a:lnTo>
                  <a:pt x="1602270" y="1512074"/>
                </a:lnTo>
                <a:lnTo>
                  <a:pt x="1575015" y="1556131"/>
                </a:lnTo>
                <a:lnTo>
                  <a:pt x="1548130" y="1600390"/>
                </a:lnTo>
                <a:lnTo>
                  <a:pt x="1521625" y="1644865"/>
                </a:lnTo>
                <a:lnTo>
                  <a:pt x="1495475" y="1689569"/>
                </a:lnTo>
                <a:lnTo>
                  <a:pt x="1469732" y="1734502"/>
                </a:lnTo>
                <a:lnTo>
                  <a:pt x="1444371" y="1779651"/>
                </a:lnTo>
                <a:lnTo>
                  <a:pt x="1418767" y="1824443"/>
                </a:lnTo>
                <a:lnTo>
                  <a:pt x="1393571" y="1869503"/>
                </a:lnTo>
                <a:lnTo>
                  <a:pt x="1368780" y="1914842"/>
                </a:lnTo>
                <a:lnTo>
                  <a:pt x="1344422" y="1960435"/>
                </a:lnTo>
                <a:lnTo>
                  <a:pt x="1320469" y="2006282"/>
                </a:lnTo>
                <a:lnTo>
                  <a:pt x="1296949" y="2052383"/>
                </a:lnTo>
                <a:lnTo>
                  <a:pt x="1273873" y="2098713"/>
                </a:lnTo>
                <a:lnTo>
                  <a:pt x="1251216" y="2145284"/>
                </a:lnTo>
                <a:lnTo>
                  <a:pt x="1229017" y="2192070"/>
                </a:lnTo>
                <a:lnTo>
                  <a:pt x="1207249" y="2239073"/>
                </a:lnTo>
                <a:lnTo>
                  <a:pt x="1185951" y="2286279"/>
                </a:lnTo>
                <a:lnTo>
                  <a:pt x="1165098" y="2333688"/>
                </a:lnTo>
                <a:lnTo>
                  <a:pt x="1144714" y="2381288"/>
                </a:lnTo>
                <a:lnTo>
                  <a:pt x="1124788" y="2429065"/>
                </a:lnTo>
                <a:lnTo>
                  <a:pt x="1105344" y="2477020"/>
                </a:lnTo>
                <a:lnTo>
                  <a:pt x="1086383" y="2525153"/>
                </a:lnTo>
                <a:lnTo>
                  <a:pt x="1067904" y="2573439"/>
                </a:lnTo>
                <a:lnTo>
                  <a:pt x="1049909" y="2621877"/>
                </a:lnTo>
                <a:lnTo>
                  <a:pt x="1032408" y="2670454"/>
                </a:lnTo>
                <a:lnTo>
                  <a:pt x="1015403" y="2719171"/>
                </a:lnTo>
                <a:lnTo>
                  <a:pt x="998905" y="2768028"/>
                </a:lnTo>
                <a:lnTo>
                  <a:pt x="982929" y="2816987"/>
                </a:lnTo>
                <a:lnTo>
                  <a:pt x="967536" y="2864561"/>
                </a:lnTo>
                <a:lnTo>
                  <a:pt x="952690" y="2912224"/>
                </a:lnTo>
                <a:lnTo>
                  <a:pt x="938364" y="2959989"/>
                </a:lnTo>
                <a:lnTo>
                  <a:pt x="924598" y="3007868"/>
                </a:lnTo>
                <a:lnTo>
                  <a:pt x="911377" y="3055848"/>
                </a:lnTo>
                <a:lnTo>
                  <a:pt x="898715" y="3103943"/>
                </a:lnTo>
                <a:lnTo>
                  <a:pt x="886612" y="3152127"/>
                </a:lnTo>
                <a:lnTo>
                  <a:pt x="875080" y="3200425"/>
                </a:lnTo>
                <a:lnTo>
                  <a:pt x="864133" y="3248825"/>
                </a:lnTo>
                <a:lnTo>
                  <a:pt x="853757" y="3297326"/>
                </a:lnTo>
                <a:lnTo>
                  <a:pt x="843991" y="3345942"/>
                </a:lnTo>
                <a:lnTo>
                  <a:pt x="834809" y="3394659"/>
                </a:lnTo>
                <a:lnTo>
                  <a:pt x="826236" y="3443478"/>
                </a:lnTo>
                <a:lnTo>
                  <a:pt x="818273" y="3492398"/>
                </a:lnTo>
                <a:lnTo>
                  <a:pt x="810933" y="3541420"/>
                </a:lnTo>
                <a:lnTo>
                  <a:pt x="804214" y="3590556"/>
                </a:lnTo>
                <a:lnTo>
                  <a:pt x="798131" y="3639794"/>
                </a:lnTo>
                <a:lnTo>
                  <a:pt x="792695" y="3689134"/>
                </a:lnTo>
                <a:lnTo>
                  <a:pt x="787895" y="3738575"/>
                </a:lnTo>
                <a:lnTo>
                  <a:pt x="783755" y="3788118"/>
                </a:lnTo>
                <a:lnTo>
                  <a:pt x="780262" y="3837775"/>
                </a:lnTo>
                <a:lnTo>
                  <a:pt x="777544" y="3885857"/>
                </a:lnTo>
                <a:lnTo>
                  <a:pt x="777443" y="3887533"/>
                </a:lnTo>
                <a:lnTo>
                  <a:pt x="775309" y="3937381"/>
                </a:lnTo>
                <a:lnTo>
                  <a:pt x="775309" y="3959860"/>
                </a:lnTo>
                <a:lnTo>
                  <a:pt x="775309" y="3960368"/>
                </a:lnTo>
                <a:lnTo>
                  <a:pt x="782294" y="3981856"/>
                </a:lnTo>
                <a:lnTo>
                  <a:pt x="789724" y="4004183"/>
                </a:lnTo>
                <a:lnTo>
                  <a:pt x="798017" y="4026522"/>
                </a:lnTo>
                <a:lnTo>
                  <a:pt x="807605" y="4047998"/>
                </a:lnTo>
                <a:lnTo>
                  <a:pt x="807605" y="3937381"/>
                </a:lnTo>
                <a:lnTo>
                  <a:pt x="809777" y="3887533"/>
                </a:lnTo>
                <a:lnTo>
                  <a:pt x="812850" y="3834396"/>
                </a:lnTo>
                <a:lnTo>
                  <a:pt x="816546" y="3782999"/>
                </a:lnTo>
                <a:lnTo>
                  <a:pt x="820966" y="3731679"/>
                </a:lnTo>
                <a:lnTo>
                  <a:pt x="826058" y="3680434"/>
                </a:lnTo>
                <a:lnTo>
                  <a:pt x="831837" y="3629279"/>
                </a:lnTo>
                <a:lnTo>
                  <a:pt x="838288" y="3578212"/>
                </a:lnTo>
                <a:lnTo>
                  <a:pt x="845388" y="3527234"/>
                </a:lnTo>
                <a:lnTo>
                  <a:pt x="853122" y="3476358"/>
                </a:lnTo>
                <a:lnTo>
                  <a:pt x="861491" y="3425583"/>
                </a:lnTo>
                <a:lnTo>
                  <a:pt x="870470" y="3374923"/>
                </a:lnTo>
                <a:lnTo>
                  <a:pt x="880046" y="3324364"/>
                </a:lnTo>
                <a:lnTo>
                  <a:pt x="890206" y="3273933"/>
                </a:lnTo>
                <a:lnTo>
                  <a:pt x="900950" y="3223628"/>
                </a:lnTo>
                <a:lnTo>
                  <a:pt x="912253" y="3173450"/>
                </a:lnTo>
                <a:lnTo>
                  <a:pt x="924102" y="3123412"/>
                </a:lnTo>
                <a:lnTo>
                  <a:pt x="936485" y="3073514"/>
                </a:lnTo>
                <a:lnTo>
                  <a:pt x="949401" y="3023755"/>
                </a:lnTo>
                <a:lnTo>
                  <a:pt x="962812" y="2974136"/>
                </a:lnTo>
                <a:lnTo>
                  <a:pt x="976731" y="2924683"/>
                </a:lnTo>
                <a:lnTo>
                  <a:pt x="991133" y="2875394"/>
                </a:lnTo>
                <a:lnTo>
                  <a:pt x="1006005" y="2826258"/>
                </a:lnTo>
                <a:lnTo>
                  <a:pt x="1021981" y="2777299"/>
                </a:lnTo>
                <a:lnTo>
                  <a:pt x="1038479" y="2728518"/>
                </a:lnTo>
                <a:lnTo>
                  <a:pt x="1055471" y="2679903"/>
                </a:lnTo>
                <a:lnTo>
                  <a:pt x="1072946" y="2631452"/>
                </a:lnTo>
                <a:lnTo>
                  <a:pt x="1090917" y="2583180"/>
                </a:lnTo>
                <a:lnTo>
                  <a:pt x="1109357" y="2535085"/>
                </a:lnTo>
                <a:lnTo>
                  <a:pt x="1128268" y="2487155"/>
                </a:lnTo>
                <a:lnTo>
                  <a:pt x="1147648" y="2439403"/>
                </a:lnTo>
                <a:lnTo>
                  <a:pt x="1167472" y="2391816"/>
                </a:lnTo>
                <a:lnTo>
                  <a:pt x="1187742" y="2344407"/>
                </a:lnTo>
                <a:lnTo>
                  <a:pt x="1208443" y="2297163"/>
                </a:lnTo>
                <a:lnTo>
                  <a:pt x="1229575" y="2250097"/>
                </a:lnTo>
                <a:lnTo>
                  <a:pt x="1251127" y="2203208"/>
                </a:lnTo>
                <a:lnTo>
                  <a:pt x="1273098" y="2156485"/>
                </a:lnTo>
                <a:lnTo>
                  <a:pt x="1295476" y="2109940"/>
                </a:lnTo>
                <a:lnTo>
                  <a:pt x="1318247" y="2063559"/>
                </a:lnTo>
                <a:lnTo>
                  <a:pt x="1341412" y="2017356"/>
                </a:lnTo>
                <a:lnTo>
                  <a:pt x="1364945" y="1971319"/>
                </a:lnTo>
                <a:lnTo>
                  <a:pt x="1388872" y="1925459"/>
                </a:lnTo>
                <a:lnTo>
                  <a:pt x="1413154" y="1879777"/>
                </a:lnTo>
                <a:lnTo>
                  <a:pt x="1437792" y="1834261"/>
                </a:lnTo>
                <a:lnTo>
                  <a:pt x="1462786" y="1788922"/>
                </a:lnTo>
                <a:lnTo>
                  <a:pt x="1488109" y="1743773"/>
                </a:lnTo>
                <a:lnTo>
                  <a:pt x="1513789" y="1698840"/>
                </a:lnTo>
                <a:lnTo>
                  <a:pt x="1539786" y="1654136"/>
                </a:lnTo>
                <a:lnTo>
                  <a:pt x="1566125" y="1609648"/>
                </a:lnTo>
                <a:lnTo>
                  <a:pt x="1592783" y="1565376"/>
                </a:lnTo>
                <a:lnTo>
                  <a:pt x="1619758" y="1521320"/>
                </a:lnTo>
                <a:lnTo>
                  <a:pt x="1647037" y="1477479"/>
                </a:lnTo>
                <a:lnTo>
                  <a:pt x="1674634" y="1433855"/>
                </a:lnTo>
                <a:lnTo>
                  <a:pt x="1702523" y="1390434"/>
                </a:lnTo>
                <a:lnTo>
                  <a:pt x="1730717" y="1347216"/>
                </a:lnTo>
                <a:lnTo>
                  <a:pt x="1759204" y="1304201"/>
                </a:lnTo>
                <a:lnTo>
                  <a:pt x="1787969" y="1261389"/>
                </a:lnTo>
                <a:lnTo>
                  <a:pt x="1817014" y="1218768"/>
                </a:lnTo>
                <a:lnTo>
                  <a:pt x="1846338" y="1176350"/>
                </a:lnTo>
                <a:lnTo>
                  <a:pt x="1875942" y="1134110"/>
                </a:lnTo>
                <a:lnTo>
                  <a:pt x="1905812" y="1092073"/>
                </a:lnTo>
                <a:lnTo>
                  <a:pt x="1935937" y="1050226"/>
                </a:lnTo>
                <a:lnTo>
                  <a:pt x="1966315" y="1008545"/>
                </a:lnTo>
                <a:lnTo>
                  <a:pt x="1996948" y="967066"/>
                </a:lnTo>
                <a:lnTo>
                  <a:pt x="2027821" y="925753"/>
                </a:lnTo>
                <a:lnTo>
                  <a:pt x="2058936" y="884618"/>
                </a:lnTo>
                <a:lnTo>
                  <a:pt x="2090293" y="843661"/>
                </a:lnTo>
                <a:lnTo>
                  <a:pt x="2121954" y="803452"/>
                </a:lnTo>
                <a:lnTo>
                  <a:pt x="2154047" y="763282"/>
                </a:lnTo>
                <a:lnTo>
                  <a:pt x="2186521" y="723188"/>
                </a:lnTo>
                <a:lnTo>
                  <a:pt x="2219312" y="683221"/>
                </a:lnTo>
                <a:lnTo>
                  <a:pt x="2252408" y="643407"/>
                </a:lnTo>
                <a:lnTo>
                  <a:pt x="2285758" y="603796"/>
                </a:lnTo>
                <a:lnTo>
                  <a:pt x="2319312" y="564451"/>
                </a:lnTo>
                <a:lnTo>
                  <a:pt x="2353030" y="525373"/>
                </a:lnTo>
                <a:lnTo>
                  <a:pt x="2386876" y="486638"/>
                </a:lnTo>
                <a:lnTo>
                  <a:pt x="2420810" y="448284"/>
                </a:lnTo>
                <a:lnTo>
                  <a:pt x="2454783" y="410337"/>
                </a:lnTo>
                <a:lnTo>
                  <a:pt x="2487041" y="375424"/>
                </a:lnTo>
                <a:lnTo>
                  <a:pt x="2551620" y="304863"/>
                </a:lnTo>
                <a:lnTo>
                  <a:pt x="2583904" y="269976"/>
                </a:lnTo>
                <a:lnTo>
                  <a:pt x="2616187" y="235839"/>
                </a:lnTo>
                <a:lnTo>
                  <a:pt x="2648458" y="202819"/>
                </a:lnTo>
                <a:lnTo>
                  <a:pt x="2749994" y="102031"/>
                </a:lnTo>
                <a:lnTo>
                  <a:pt x="2783497" y="69354"/>
                </a:lnTo>
                <a:lnTo>
                  <a:pt x="2817253" y="36906"/>
                </a:lnTo>
                <a:lnTo>
                  <a:pt x="2851531" y="4572"/>
                </a:lnTo>
                <a:lnTo>
                  <a:pt x="2851531" y="0"/>
                </a:lnTo>
                <a:close/>
              </a:path>
            </a:pathLst>
          </a:custGeom>
          <a:solidFill>
            <a:srgbClr val="AF1CA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811"/>
            <a:ext cx="12192000" cy="685406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680716" y="3899534"/>
            <a:ext cx="3594100" cy="832485"/>
          </a:xfrm>
          <a:custGeom>
            <a:avLst/>
            <a:gdLst/>
            <a:ahLst/>
            <a:cxnLst/>
            <a:rect l="l" t="t" r="r" b="b"/>
            <a:pathLst>
              <a:path w="3594100" h="832485">
                <a:moveTo>
                  <a:pt x="3593591" y="0"/>
                </a:moveTo>
                <a:lnTo>
                  <a:pt x="0" y="0"/>
                </a:lnTo>
                <a:lnTo>
                  <a:pt x="0" y="832103"/>
                </a:lnTo>
                <a:lnTo>
                  <a:pt x="3593591" y="832103"/>
                </a:lnTo>
                <a:lnTo>
                  <a:pt x="3593591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84195" y="250647"/>
            <a:ext cx="6993890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 u="sng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9197" y="1503629"/>
            <a:ext cx="5854700" cy="3044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../OneDrive/Desktop/ABC%20Call%20volume-Excel%20Sheet.xlsx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000" y="-811"/>
            <a:ext cx="12200890" cy="6859270"/>
            <a:chOff x="-4000" y="-811"/>
            <a:chExt cx="12200890" cy="6859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399031"/>
              <a:ext cx="2851785" cy="5459095"/>
            </a:xfrm>
            <a:custGeom>
              <a:avLst/>
              <a:gdLst/>
              <a:ahLst/>
              <a:cxnLst/>
              <a:rect l="l" t="t" r="r" b="b"/>
              <a:pathLst>
                <a:path w="2851785" h="5459095">
                  <a:moveTo>
                    <a:pt x="100634" y="1802257"/>
                  </a:moveTo>
                  <a:lnTo>
                    <a:pt x="95618" y="1750237"/>
                  </a:lnTo>
                  <a:lnTo>
                    <a:pt x="82778" y="1596351"/>
                  </a:lnTo>
                  <a:lnTo>
                    <a:pt x="77762" y="1544320"/>
                  </a:lnTo>
                  <a:lnTo>
                    <a:pt x="66255" y="1492783"/>
                  </a:lnTo>
                  <a:lnTo>
                    <a:pt x="55143" y="1440738"/>
                  </a:lnTo>
                  <a:lnTo>
                    <a:pt x="22618" y="1282484"/>
                  </a:lnTo>
                  <a:lnTo>
                    <a:pt x="11506" y="1229296"/>
                  </a:lnTo>
                  <a:lnTo>
                    <a:pt x="0" y="1176020"/>
                  </a:lnTo>
                  <a:lnTo>
                    <a:pt x="0" y="1337183"/>
                  </a:lnTo>
                  <a:lnTo>
                    <a:pt x="10490" y="1387449"/>
                  </a:lnTo>
                  <a:lnTo>
                    <a:pt x="32562" y="1489087"/>
                  </a:lnTo>
                  <a:lnTo>
                    <a:pt x="55702" y="1591818"/>
                  </a:lnTo>
                  <a:lnTo>
                    <a:pt x="91490" y="1747012"/>
                  </a:lnTo>
                  <a:lnTo>
                    <a:pt x="92278" y="1760829"/>
                  </a:lnTo>
                  <a:lnTo>
                    <a:pt x="94348" y="1774634"/>
                  </a:lnTo>
                  <a:lnTo>
                    <a:pt x="97282" y="1788452"/>
                  </a:lnTo>
                  <a:lnTo>
                    <a:pt x="100634" y="1802257"/>
                  </a:lnTo>
                  <a:close/>
                </a:path>
                <a:path w="2851785" h="5459095">
                  <a:moveTo>
                    <a:pt x="775309" y="3959860"/>
                  </a:moveTo>
                  <a:lnTo>
                    <a:pt x="741527" y="3868115"/>
                  </a:lnTo>
                  <a:lnTo>
                    <a:pt x="708393" y="3775824"/>
                  </a:lnTo>
                  <a:lnTo>
                    <a:pt x="675919" y="3683076"/>
                  </a:lnTo>
                  <a:lnTo>
                    <a:pt x="644105" y="3589972"/>
                  </a:lnTo>
                  <a:lnTo>
                    <a:pt x="612952" y="3496627"/>
                  </a:lnTo>
                  <a:lnTo>
                    <a:pt x="582447" y="3403130"/>
                  </a:lnTo>
                  <a:lnTo>
                    <a:pt x="536663" y="3260763"/>
                  </a:lnTo>
                  <a:lnTo>
                    <a:pt x="506488" y="3164954"/>
                  </a:lnTo>
                  <a:lnTo>
                    <a:pt x="476897" y="3068955"/>
                  </a:lnTo>
                  <a:lnTo>
                    <a:pt x="447890" y="2972778"/>
                  </a:lnTo>
                  <a:lnTo>
                    <a:pt x="419430" y="2876423"/>
                  </a:lnTo>
                  <a:lnTo>
                    <a:pt x="391528" y="2779890"/>
                  </a:lnTo>
                  <a:lnTo>
                    <a:pt x="364159" y="2683192"/>
                  </a:lnTo>
                  <a:lnTo>
                    <a:pt x="337324" y="2586342"/>
                  </a:lnTo>
                  <a:lnTo>
                    <a:pt x="310997" y="2489339"/>
                  </a:lnTo>
                  <a:lnTo>
                    <a:pt x="285165" y="2392184"/>
                  </a:lnTo>
                  <a:lnTo>
                    <a:pt x="247332" y="2246185"/>
                  </a:lnTo>
                  <a:lnTo>
                    <a:pt x="210540" y="2099906"/>
                  </a:lnTo>
                  <a:lnTo>
                    <a:pt x="174777" y="1953348"/>
                  </a:lnTo>
                  <a:lnTo>
                    <a:pt x="139979" y="1806549"/>
                  </a:lnTo>
                  <a:lnTo>
                    <a:pt x="128600" y="1757553"/>
                  </a:lnTo>
                  <a:lnTo>
                    <a:pt x="156311" y="2038604"/>
                  </a:lnTo>
                  <a:lnTo>
                    <a:pt x="206222" y="2237206"/>
                  </a:lnTo>
                  <a:lnTo>
                    <a:pt x="244563" y="2386050"/>
                  </a:lnTo>
                  <a:lnTo>
                    <a:pt x="283768" y="2534716"/>
                  </a:lnTo>
                  <a:lnTo>
                    <a:pt x="323900" y="2683129"/>
                  </a:lnTo>
                  <a:lnTo>
                    <a:pt x="365061" y="2831223"/>
                  </a:lnTo>
                  <a:lnTo>
                    <a:pt x="393103" y="2929725"/>
                  </a:lnTo>
                  <a:lnTo>
                    <a:pt x="421640" y="3028035"/>
                  </a:lnTo>
                  <a:lnTo>
                    <a:pt x="450710" y="3126117"/>
                  </a:lnTo>
                  <a:lnTo>
                    <a:pt x="480339" y="3223958"/>
                  </a:lnTo>
                  <a:lnTo>
                    <a:pt x="510540" y="3321532"/>
                  </a:lnTo>
                  <a:lnTo>
                    <a:pt x="525868" y="3370199"/>
                  </a:lnTo>
                  <a:lnTo>
                    <a:pt x="588860" y="3560940"/>
                  </a:lnTo>
                  <a:lnTo>
                    <a:pt x="636739" y="3703028"/>
                  </a:lnTo>
                  <a:lnTo>
                    <a:pt x="669213" y="3797427"/>
                  </a:lnTo>
                  <a:lnTo>
                    <a:pt x="702271" y="3891635"/>
                  </a:lnTo>
                  <a:lnTo>
                    <a:pt x="736053" y="3985717"/>
                  </a:lnTo>
                  <a:lnTo>
                    <a:pt x="770699" y="4079748"/>
                  </a:lnTo>
                  <a:lnTo>
                    <a:pt x="770763" y="4049344"/>
                  </a:lnTo>
                  <a:lnTo>
                    <a:pt x="771271" y="4019804"/>
                  </a:lnTo>
                  <a:lnTo>
                    <a:pt x="772642" y="3990276"/>
                  </a:lnTo>
                  <a:lnTo>
                    <a:pt x="775309" y="3959860"/>
                  </a:lnTo>
                  <a:close/>
                </a:path>
                <a:path w="2851785" h="5459095">
                  <a:moveTo>
                    <a:pt x="959827" y="5104765"/>
                  </a:moveTo>
                  <a:lnTo>
                    <a:pt x="945921" y="5058588"/>
                  </a:lnTo>
                  <a:lnTo>
                    <a:pt x="931202" y="5008219"/>
                  </a:lnTo>
                  <a:lnTo>
                    <a:pt x="917371" y="4957851"/>
                  </a:lnTo>
                  <a:lnTo>
                    <a:pt x="904430" y="4907483"/>
                  </a:lnTo>
                  <a:lnTo>
                    <a:pt x="892352" y="4857115"/>
                  </a:lnTo>
                  <a:lnTo>
                    <a:pt x="881100" y="4806747"/>
                  </a:lnTo>
                  <a:lnTo>
                    <a:pt x="870661" y="4756378"/>
                  </a:lnTo>
                  <a:lnTo>
                    <a:pt x="861021" y="4706010"/>
                  </a:lnTo>
                  <a:lnTo>
                    <a:pt x="852157" y="4655629"/>
                  </a:lnTo>
                  <a:lnTo>
                    <a:pt x="844042" y="4605261"/>
                  </a:lnTo>
                  <a:lnTo>
                    <a:pt x="836663" y="4554893"/>
                  </a:lnTo>
                  <a:lnTo>
                    <a:pt x="829995" y="4504512"/>
                  </a:lnTo>
                  <a:lnTo>
                    <a:pt x="820889" y="4395076"/>
                  </a:lnTo>
                  <a:lnTo>
                    <a:pt x="816660" y="4341190"/>
                  </a:lnTo>
                  <a:lnTo>
                    <a:pt x="812825" y="4287685"/>
                  </a:lnTo>
                  <a:lnTo>
                    <a:pt x="809498" y="4234459"/>
                  </a:lnTo>
                  <a:lnTo>
                    <a:pt x="806818" y="4181348"/>
                  </a:lnTo>
                  <a:lnTo>
                    <a:pt x="806818" y="4176649"/>
                  </a:lnTo>
                  <a:lnTo>
                    <a:pt x="802182" y="4172077"/>
                  </a:lnTo>
                  <a:lnTo>
                    <a:pt x="802182" y="4162806"/>
                  </a:lnTo>
                  <a:lnTo>
                    <a:pt x="794499" y="4142041"/>
                  </a:lnTo>
                  <a:lnTo>
                    <a:pt x="777392" y="4100512"/>
                  </a:lnTo>
                  <a:lnTo>
                    <a:pt x="769721" y="4079748"/>
                  </a:lnTo>
                  <a:lnTo>
                    <a:pt x="770140" y="4133418"/>
                  </a:lnTo>
                  <a:lnTo>
                    <a:pt x="771385" y="4187088"/>
                  </a:lnTo>
                  <a:lnTo>
                    <a:pt x="773379" y="4240758"/>
                  </a:lnTo>
                  <a:lnTo>
                    <a:pt x="776084" y="4294429"/>
                  </a:lnTo>
                  <a:lnTo>
                    <a:pt x="779449" y="4348111"/>
                  </a:lnTo>
                  <a:lnTo>
                    <a:pt x="783412" y="4401782"/>
                  </a:lnTo>
                  <a:lnTo>
                    <a:pt x="787908" y="4455452"/>
                  </a:lnTo>
                  <a:lnTo>
                    <a:pt x="792911" y="4509122"/>
                  </a:lnTo>
                  <a:lnTo>
                    <a:pt x="799147" y="4556874"/>
                  </a:lnTo>
                  <a:lnTo>
                    <a:pt x="805954" y="4605032"/>
                  </a:lnTo>
                  <a:lnTo>
                    <a:pt x="813346" y="4653432"/>
                  </a:lnTo>
                  <a:lnTo>
                    <a:pt x="821283" y="4701895"/>
                  </a:lnTo>
                  <a:lnTo>
                    <a:pt x="829805" y="4750295"/>
                  </a:lnTo>
                  <a:lnTo>
                    <a:pt x="838885" y="4798453"/>
                  </a:lnTo>
                  <a:lnTo>
                    <a:pt x="847940" y="4843208"/>
                  </a:lnTo>
                  <a:lnTo>
                    <a:pt x="829233" y="4796625"/>
                  </a:lnTo>
                  <a:lnTo>
                    <a:pt x="810171" y="4748212"/>
                  </a:lnTo>
                  <a:lnTo>
                    <a:pt x="791451" y="4699800"/>
                  </a:lnTo>
                  <a:lnTo>
                    <a:pt x="773074" y="4651400"/>
                  </a:lnTo>
                  <a:lnTo>
                    <a:pt x="755027" y="4602988"/>
                  </a:lnTo>
                  <a:lnTo>
                    <a:pt x="737273" y="4554575"/>
                  </a:lnTo>
                  <a:lnTo>
                    <a:pt x="719810" y="4506163"/>
                  </a:lnTo>
                  <a:lnTo>
                    <a:pt x="685685" y="4409351"/>
                  </a:lnTo>
                  <a:lnTo>
                    <a:pt x="652526" y="4312539"/>
                  </a:lnTo>
                  <a:lnTo>
                    <a:pt x="636270" y="4264126"/>
                  </a:lnTo>
                  <a:lnTo>
                    <a:pt x="620560" y="4216171"/>
                  </a:lnTo>
                  <a:lnTo>
                    <a:pt x="605091" y="4168102"/>
                  </a:lnTo>
                  <a:lnTo>
                    <a:pt x="589876" y="4119943"/>
                  </a:lnTo>
                  <a:lnTo>
                    <a:pt x="574903" y="4071670"/>
                  </a:lnTo>
                  <a:lnTo>
                    <a:pt x="560171" y="4023309"/>
                  </a:lnTo>
                  <a:lnTo>
                    <a:pt x="545680" y="3974846"/>
                  </a:lnTo>
                  <a:lnTo>
                    <a:pt x="517423" y="3877665"/>
                  </a:lnTo>
                  <a:lnTo>
                    <a:pt x="490105" y="3780129"/>
                  </a:lnTo>
                  <a:lnTo>
                    <a:pt x="463727" y="3682276"/>
                  </a:lnTo>
                  <a:lnTo>
                    <a:pt x="438289" y="3584117"/>
                  </a:lnTo>
                  <a:lnTo>
                    <a:pt x="413766" y="3485680"/>
                  </a:lnTo>
                  <a:lnTo>
                    <a:pt x="390144" y="3386975"/>
                  </a:lnTo>
                  <a:lnTo>
                    <a:pt x="367423" y="3288030"/>
                  </a:lnTo>
                  <a:lnTo>
                    <a:pt x="345592" y="3188868"/>
                  </a:lnTo>
                  <a:lnTo>
                    <a:pt x="324650" y="3089503"/>
                  </a:lnTo>
                  <a:lnTo>
                    <a:pt x="304558" y="2989973"/>
                  </a:lnTo>
                  <a:lnTo>
                    <a:pt x="285343" y="2890266"/>
                  </a:lnTo>
                  <a:lnTo>
                    <a:pt x="267779" y="2790850"/>
                  </a:lnTo>
                  <a:lnTo>
                    <a:pt x="250952" y="2691079"/>
                  </a:lnTo>
                  <a:lnTo>
                    <a:pt x="234797" y="2591003"/>
                  </a:lnTo>
                  <a:lnTo>
                    <a:pt x="219278" y="2490686"/>
                  </a:lnTo>
                  <a:lnTo>
                    <a:pt x="204343" y="2390152"/>
                  </a:lnTo>
                  <a:lnTo>
                    <a:pt x="189953" y="2289467"/>
                  </a:lnTo>
                  <a:lnTo>
                    <a:pt x="169291" y="2138235"/>
                  </a:lnTo>
                  <a:lnTo>
                    <a:pt x="156057" y="2037334"/>
                  </a:lnTo>
                  <a:lnTo>
                    <a:pt x="100634" y="1802257"/>
                  </a:lnTo>
                  <a:lnTo>
                    <a:pt x="111048" y="1901698"/>
                  </a:lnTo>
                  <a:lnTo>
                    <a:pt x="122161" y="2001304"/>
                  </a:lnTo>
                  <a:lnTo>
                    <a:pt x="133946" y="2101011"/>
                  </a:lnTo>
                  <a:lnTo>
                    <a:pt x="146431" y="2200757"/>
                  </a:lnTo>
                  <a:lnTo>
                    <a:pt x="159600" y="2300478"/>
                  </a:lnTo>
                  <a:lnTo>
                    <a:pt x="173443" y="2400122"/>
                  </a:lnTo>
                  <a:lnTo>
                    <a:pt x="187985" y="2499614"/>
                  </a:lnTo>
                  <a:lnTo>
                    <a:pt x="203212" y="2598890"/>
                  </a:lnTo>
                  <a:lnTo>
                    <a:pt x="219125" y="2697899"/>
                  </a:lnTo>
                  <a:lnTo>
                    <a:pt x="235724" y="2796565"/>
                  </a:lnTo>
                  <a:lnTo>
                    <a:pt x="262039" y="2945193"/>
                  </a:lnTo>
                  <a:lnTo>
                    <a:pt x="280835" y="3045688"/>
                  </a:lnTo>
                  <a:lnTo>
                    <a:pt x="300609" y="3145891"/>
                  </a:lnTo>
                  <a:lnTo>
                    <a:pt x="321335" y="3245815"/>
                  </a:lnTo>
                  <a:lnTo>
                    <a:pt x="343027" y="3345459"/>
                  </a:lnTo>
                  <a:lnTo>
                    <a:pt x="365658" y="3444811"/>
                  </a:lnTo>
                  <a:lnTo>
                    <a:pt x="389216" y="3543897"/>
                  </a:lnTo>
                  <a:lnTo>
                    <a:pt x="413715" y="3642690"/>
                  </a:lnTo>
                  <a:lnTo>
                    <a:pt x="439115" y="3741191"/>
                  </a:lnTo>
                  <a:lnTo>
                    <a:pt x="465416" y="3839426"/>
                  </a:lnTo>
                  <a:lnTo>
                    <a:pt x="492620" y="3937368"/>
                  </a:lnTo>
                  <a:lnTo>
                    <a:pt x="520700" y="4035031"/>
                  </a:lnTo>
                  <a:lnTo>
                    <a:pt x="549656" y="4132415"/>
                  </a:lnTo>
                  <a:lnTo>
                    <a:pt x="579475" y="4229519"/>
                  </a:lnTo>
                  <a:lnTo>
                    <a:pt x="594715" y="4277957"/>
                  </a:lnTo>
                  <a:lnTo>
                    <a:pt x="610679" y="4326306"/>
                  </a:lnTo>
                  <a:lnTo>
                    <a:pt x="626922" y="4374502"/>
                  </a:lnTo>
                  <a:lnTo>
                    <a:pt x="643432" y="4422559"/>
                  </a:lnTo>
                  <a:lnTo>
                    <a:pt x="660184" y="4470463"/>
                  </a:lnTo>
                  <a:lnTo>
                    <a:pt x="677189" y="4518241"/>
                  </a:lnTo>
                  <a:lnTo>
                    <a:pt x="694423" y="4565866"/>
                  </a:lnTo>
                  <a:lnTo>
                    <a:pt x="729538" y="4660709"/>
                  </a:lnTo>
                  <a:lnTo>
                    <a:pt x="765467" y="4754981"/>
                  </a:lnTo>
                  <a:lnTo>
                    <a:pt x="802119" y="4848695"/>
                  </a:lnTo>
                  <a:lnTo>
                    <a:pt x="839431" y="4941836"/>
                  </a:lnTo>
                  <a:lnTo>
                    <a:pt x="860209" y="4989525"/>
                  </a:lnTo>
                  <a:lnTo>
                    <a:pt x="901763" y="5083175"/>
                  </a:lnTo>
                  <a:lnTo>
                    <a:pt x="922553" y="5130863"/>
                  </a:lnTo>
                  <a:lnTo>
                    <a:pt x="916419" y="5114302"/>
                  </a:lnTo>
                  <a:lnTo>
                    <a:pt x="911580" y="5098593"/>
                  </a:lnTo>
                  <a:lnTo>
                    <a:pt x="907605" y="5082883"/>
                  </a:lnTo>
                  <a:lnTo>
                    <a:pt x="904074" y="5066309"/>
                  </a:lnTo>
                  <a:lnTo>
                    <a:pt x="887628" y="5010988"/>
                  </a:lnTo>
                  <a:lnTo>
                    <a:pt x="872909" y="4955667"/>
                  </a:lnTo>
                  <a:lnTo>
                    <a:pt x="859917" y="4900346"/>
                  </a:lnTo>
                  <a:lnTo>
                    <a:pt x="849350" y="4848403"/>
                  </a:lnTo>
                  <a:lnTo>
                    <a:pt x="856221" y="4866983"/>
                  </a:lnTo>
                  <a:lnTo>
                    <a:pt x="873315" y="4908537"/>
                  </a:lnTo>
                  <a:lnTo>
                    <a:pt x="880999" y="4929302"/>
                  </a:lnTo>
                  <a:lnTo>
                    <a:pt x="901141" y="4973612"/>
                  </a:lnTo>
                  <a:lnTo>
                    <a:pt x="939673" y="5060480"/>
                  </a:lnTo>
                  <a:lnTo>
                    <a:pt x="959827" y="5104765"/>
                  </a:lnTo>
                  <a:close/>
                </a:path>
                <a:path w="2851785" h="5459095">
                  <a:moveTo>
                    <a:pt x="1080084" y="5458968"/>
                  </a:moveTo>
                  <a:lnTo>
                    <a:pt x="1037145" y="5372227"/>
                  </a:lnTo>
                  <a:lnTo>
                    <a:pt x="990257" y="5275275"/>
                  </a:lnTo>
                  <a:lnTo>
                    <a:pt x="967244" y="5226837"/>
                  </a:lnTo>
                  <a:lnTo>
                    <a:pt x="944651" y="5178653"/>
                  </a:lnTo>
                  <a:lnTo>
                    <a:pt x="922553" y="5130863"/>
                  </a:lnTo>
                  <a:lnTo>
                    <a:pt x="936993" y="5178653"/>
                  </a:lnTo>
                  <a:lnTo>
                    <a:pt x="952500" y="5226837"/>
                  </a:lnTo>
                  <a:lnTo>
                    <a:pt x="968971" y="5275275"/>
                  </a:lnTo>
                  <a:lnTo>
                    <a:pt x="986345" y="5323789"/>
                  </a:lnTo>
                  <a:lnTo>
                    <a:pt x="1004531" y="5372227"/>
                  </a:lnTo>
                  <a:lnTo>
                    <a:pt x="1023429" y="5420411"/>
                  </a:lnTo>
                  <a:lnTo>
                    <a:pt x="1039215" y="5458968"/>
                  </a:lnTo>
                  <a:lnTo>
                    <a:pt x="1080084" y="5458968"/>
                  </a:lnTo>
                  <a:close/>
                </a:path>
                <a:path w="2851785" h="5459095">
                  <a:moveTo>
                    <a:pt x="1126680" y="5458968"/>
                  </a:moveTo>
                  <a:lnTo>
                    <a:pt x="1108900" y="5423344"/>
                  </a:lnTo>
                  <a:lnTo>
                    <a:pt x="1086891" y="5378424"/>
                  </a:lnTo>
                  <a:lnTo>
                    <a:pt x="1065225" y="5333403"/>
                  </a:lnTo>
                  <a:lnTo>
                    <a:pt x="1043813" y="5288216"/>
                  </a:lnTo>
                  <a:lnTo>
                    <a:pt x="1022629" y="5242814"/>
                  </a:lnTo>
                  <a:lnTo>
                    <a:pt x="980681" y="5151145"/>
                  </a:lnTo>
                  <a:lnTo>
                    <a:pt x="959827" y="5104765"/>
                  </a:lnTo>
                  <a:lnTo>
                    <a:pt x="973950" y="5151145"/>
                  </a:lnTo>
                  <a:lnTo>
                    <a:pt x="988568" y="5197132"/>
                  </a:lnTo>
                  <a:lnTo>
                    <a:pt x="1003731" y="5242814"/>
                  </a:lnTo>
                  <a:lnTo>
                    <a:pt x="1019479" y="5288216"/>
                  </a:lnTo>
                  <a:lnTo>
                    <a:pt x="1035888" y="5333403"/>
                  </a:lnTo>
                  <a:lnTo>
                    <a:pt x="1053007" y="5378424"/>
                  </a:lnTo>
                  <a:lnTo>
                    <a:pt x="1070889" y="5423344"/>
                  </a:lnTo>
                  <a:lnTo>
                    <a:pt x="1085735" y="5458968"/>
                  </a:lnTo>
                  <a:lnTo>
                    <a:pt x="1126680" y="5458968"/>
                  </a:lnTo>
                  <a:close/>
                </a:path>
                <a:path w="2851785" h="5459095">
                  <a:moveTo>
                    <a:pt x="1411922" y="5458968"/>
                  </a:moveTo>
                  <a:lnTo>
                    <a:pt x="1329029" y="5288204"/>
                  </a:lnTo>
                  <a:lnTo>
                    <a:pt x="1285989" y="5197881"/>
                  </a:lnTo>
                  <a:lnTo>
                    <a:pt x="1243711" y="5107178"/>
                  </a:lnTo>
                  <a:lnTo>
                    <a:pt x="1222946" y="5061648"/>
                  </a:lnTo>
                  <a:lnTo>
                    <a:pt x="1202474" y="5015966"/>
                  </a:lnTo>
                  <a:lnTo>
                    <a:pt x="1182306" y="4970132"/>
                  </a:lnTo>
                  <a:lnTo>
                    <a:pt x="1162507" y="4924107"/>
                  </a:lnTo>
                  <a:lnTo>
                    <a:pt x="1119644" y="4828794"/>
                  </a:lnTo>
                  <a:lnTo>
                    <a:pt x="1077658" y="4733048"/>
                  </a:lnTo>
                  <a:lnTo>
                    <a:pt x="1036535" y="4636859"/>
                  </a:lnTo>
                  <a:lnTo>
                    <a:pt x="996289" y="4540250"/>
                  </a:lnTo>
                  <a:lnTo>
                    <a:pt x="956906" y="4443196"/>
                  </a:lnTo>
                  <a:lnTo>
                    <a:pt x="918375" y="4345724"/>
                  </a:lnTo>
                  <a:lnTo>
                    <a:pt x="880719" y="4247820"/>
                  </a:lnTo>
                  <a:lnTo>
                    <a:pt x="843940" y="4149471"/>
                  </a:lnTo>
                  <a:lnTo>
                    <a:pt x="833615" y="4125214"/>
                  </a:lnTo>
                  <a:lnTo>
                    <a:pt x="823734" y="4100499"/>
                  </a:lnTo>
                  <a:lnTo>
                    <a:pt x="814705" y="4074909"/>
                  </a:lnTo>
                  <a:lnTo>
                    <a:pt x="806996" y="4047998"/>
                  </a:lnTo>
                  <a:lnTo>
                    <a:pt x="806996" y="4181729"/>
                  </a:lnTo>
                  <a:lnTo>
                    <a:pt x="843775" y="4278350"/>
                  </a:lnTo>
                  <a:lnTo>
                    <a:pt x="881367" y="4374540"/>
                  </a:lnTo>
                  <a:lnTo>
                    <a:pt x="919721" y="4470298"/>
                  </a:lnTo>
                  <a:lnTo>
                    <a:pt x="958773" y="4565612"/>
                  </a:lnTo>
                  <a:lnTo>
                    <a:pt x="998486" y="4660493"/>
                  </a:lnTo>
                  <a:lnTo>
                    <a:pt x="1038783" y="4754956"/>
                  </a:lnTo>
                  <a:lnTo>
                    <a:pt x="1079614" y="4848974"/>
                  </a:lnTo>
                  <a:lnTo>
                    <a:pt x="1120952" y="4942548"/>
                  </a:lnTo>
                  <a:lnTo>
                    <a:pt x="1142568" y="4990338"/>
                  </a:lnTo>
                  <a:lnTo>
                    <a:pt x="1164615" y="5038128"/>
                  </a:lnTo>
                  <a:lnTo>
                    <a:pt x="1187030" y="5085918"/>
                  </a:lnTo>
                  <a:lnTo>
                    <a:pt x="1209789" y="5133695"/>
                  </a:lnTo>
                  <a:lnTo>
                    <a:pt x="1256118" y="5229276"/>
                  </a:lnTo>
                  <a:lnTo>
                    <a:pt x="1327086" y="5372633"/>
                  </a:lnTo>
                  <a:lnTo>
                    <a:pt x="1370279" y="5458968"/>
                  </a:lnTo>
                  <a:lnTo>
                    <a:pt x="1411922" y="5458968"/>
                  </a:lnTo>
                  <a:close/>
                </a:path>
                <a:path w="2851785" h="5459095">
                  <a:moveTo>
                    <a:pt x="2851531" y="0"/>
                  </a:moveTo>
                  <a:lnTo>
                    <a:pt x="2815336" y="32283"/>
                  </a:lnTo>
                  <a:lnTo>
                    <a:pt x="2780284" y="64693"/>
                  </a:lnTo>
                  <a:lnTo>
                    <a:pt x="2745994" y="97370"/>
                  </a:lnTo>
                  <a:lnTo>
                    <a:pt x="2712085" y="130429"/>
                  </a:lnTo>
                  <a:lnTo>
                    <a:pt x="2643886" y="198247"/>
                  </a:lnTo>
                  <a:lnTo>
                    <a:pt x="2611564" y="230898"/>
                  </a:lnTo>
                  <a:lnTo>
                    <a:pt x="2579268" y="264325"/>
                  </a:lnTo>
                  <a:lnTo>
                    <a:pt x="2546972" y="298538"/>
                  </a:lnTo>
                  <a:lnTo>
                    <a:pt x="2514689" y="333514"/>
                  </a:lnTo>
                  <a:lnTo>
                    <a:pt x="2482392" y="369265"/>
                  </a:lnTo>
                  <a:lnTo>
                    <a:pt x="2450084" y="405765"/>
                  </a:lnTo>
                  <a:lnTo>
                    <a:pt x="2414968" y="443598"/>
                  </a:lnTo>
                  <a:lnTo>
                    <a:pt x="2380107" y="481660"/>
                  </a:lnTo>
                  <a:lnTo>
                    <a:pt x="2345512" y="519950"/>
                  </a:lnTo>
                  <a:lnTo>
                    <a:pt x="2311222" y="558469"/>
                  </a:lnTo>
                  <a:lnTo>
                    <a:pt x="2277224" y="597217"/>
                  </a:lnTo>
                  <a:lnTo>
                    <a:pt x="2243569" y="636181"/>
                  </a:lnTo>
                  <a:lnTo>
                    <a:pt x="2210270" y="675386"/>
                  </a:lnTo>
                  <a:lnTo>
                    <a:pt x="2177338" y="714832"/>
                  </a:lnTo>
                  <a:lnTo>
                    <a:pt x="2144801" y="754494"/>
                  </a:lnTo>
                  <a:lnTo>
                    <a:pt x="2112695" y="794397"/>
                  </a:lnTo>
                  <a:lnTo>
                    <a:pt x="2081022" y="834517"/>
                  </a:lnTo>
                  <a:lnTo>
                    <a:pt x="2049043" y="875474"/>
                  </a:lnTo>
                  <a:lnTo>
                    <a:pt x="2017306" y="916609"/>
                  </a:lnTo>
                  <a:lnTo>
                    <a:pt x="1985810" y="957910"/>
                  </a:lnTo>
                  <a:lnTo>
                    <a:pt x="1954580" y="999401"/>
                  </a:lnTo>
                  <a:lnTo>
                    <a:pt x="1923592" y="1041057"/>
                  </a:lnTo>
                  <a:lnTo>
                    <a:pt x="1892884" y="1082903"/>
                  </a:lnTo>
                  <a:lnTo>
                    <a:pt x="1862455" y="1124940"/>
                  </a:lnTo>
                  <a:lnTo>
                    <a:pt x="1832305" y="1167168"/>
                  </a:lnTo>
                  <a:lnTo>
                    <a:pt x="1802447" y="1209573"/>
                  </a:lnTo>
                  <a:lnTo>
                    <a:pt x="1772894" y="1252181"/>
                  </a:lnTo>
                  <a:lnTo>
                    <a:pt x="1743633" y="1294993"/>
                  </a:lnTo>
                  <a:lnTo>
                    <a:pt x="1714703" y="1337995"/>
                  </a:lnTo>
                  <a:lnTo>
                    <a:pt x="1686090" y="1381213"/>
                  </a:lnTo>
                  <a:lnTo>
                    <a:pt x="1657807" y="1424622"/>
                  </a:lnTo>
                  <a:lnTo>
                    <a:pt x="1629867" y="1468247"/>
                  </a:lnTo>
                  <a:lnTo>
                    <a:pt x="1602270" y="1512074"/>
                  </a:lnTo>
                  <a:lnTo>
                    <a:pt x="1575015" y="1556131"/>
                  </a:lnTo>
                  <a:lnTo>
                    <a:pt x="1548130" y="1600390"/>
                  </a:lnTo>
                  <a:lnTo>
                    <a:pt x="1521625" y="1644865"/>
                  </a:lnTo>
                  <a:lnTo>
                    <a:pt x="1495475" y="1689569"/>
                  </a:lnTo>
                  <a:lnTo>
                    <a:pt x="1469732" y="1734502"/>
                  </a:lnTo>
                  <a:lnTo>
                    <a:pt x="1444371" y="1779651"/>
                  </a:lnTo>
                  <a:lnTo>
                    <a:pt x="1418767" y="1824443"/>
                  </a:lnTo>
                  <a:lnTo>
                    <a:pt x="1393571" y="1869503"/>
                  </a:lnTo>
                  <a:lnTo>
                    <a:pt x="1368780" y="1914842"/>
                  </a:lnTo>
                  <a:lnTo>
                    <a:pt x="1344422" y="1960435"/>
                  </a:lnTo>
                  <a:lnTo>
                    <a:pt x="1320469" y="2006282"/>
                  </a:lnTo>
                  <a:lnTo>
                    <a:pt x="1296949" y="2052383"/>
                  </a:lnTo>
                  <a:lnTo>
                    <a:pt x="1273873" y="2098713"/>
                  </a:lnTo>
                  <a:lnTo>
                    <a:pt x="1251216" y="2145284"/>
                  </a:lnTo>
                  <a:lnTo>
                    <a:pt x="1229017" y="2192070"/>
                  </a:lnTo>
                  <a:lnTo>
                    <a:pt x="1207249" y="2239073"/>
                  </a:lnTo>
                  <a:lnTo>
                    <a:pt x="1185951" y="2286279"/>
                  </a:lnTo>
                  <a:lnTo>
                    <a:pt x="1165098" y="2333688"/>
                  </a:lnTo>
                  <a:lnTo>
                    <a:pt x="1144714" y="2381288"/>
                  </a:lnTo>
                  <a:lnTo>
                    <a:pt x="1124788" y="2429065"/>
                  </a:lnTo>
                  <a:lnTo>
                    <a:pt x="1105344" y="2477020"/>
                  </a:lnTo>
                  <a:lnTo>
                    <a:pt x="1086383" y="2525153"/>
                  </a:lnTo>
                  <a:lnTo>
                    <a:pt x="1067904" y="2573439"/>
                  </a:lnTo>
                  <a:lnTo>
                    <a:pt x="1049909" y="2621877"/>
                  </a:lnTo>
                  <a:lnTo>
                    <a:pt x="1032408" y="2670454"/>
                  </a:lnTo>
                  <a:lnTo>
                    <a:pt x="1015403" y="2719171"/>
                  </a:lnTo>
                  <a:lnTo>
                    <a:pt x="998905" y="2768028"/>
                  </a:lnTo>
                  <a:lnTo>
                    <a:pt x="982929" y="2816987"/>
                  </a:lnTo>
                  <a:lnTo>
                    <a:pt x="967536" y="2864561"/>
                  </a:lnTo>
                  <a:lnTo>
                    <a:pt x="952690" y="2912224"/>
                  </a:lnTo>
                  <a:lnTo>
                    <a:pt x="938364" y="2959989"/>
                  </a:lnTo>
                  <a:lnTo>
                    <a:pt x="924598" y="3007868"/>
                  </a:lnTo>
                  <a:lnTo>
                    <a:pt x="911377" y="3055848"/>
                  </a:lnTo>
                  <a:lnTo>
                    <a:pt x="898715" y="3103943"/>
                  </a:lnTo>
                  <a:lnTo>
                    <a:pt x="886612" y="3152127"/>
                  </a:lnTo>
                  <a:lnTo>
                    <a:pt x="875080" y="3200425"/>
                  </a:lnTo>
                  <a:lnTo>
                    <a:pt x="864133" y="3248825"/>
                  </a:lnTo>
                  <a:lnTo>
                    <a:pt x="853757" y="3297326"/>
                  </a:lnTo>
                  <a:lnTo>
                    <a:pt x="843991" y="3345942"/>
                  </a:lnTo>
                  <a:lnTo>
                    <a:pt x="834809" y="3394659"/>
                  </a:lnTo>
                  <a:lnTo>
                    <a:pt x="826236" y="3443478"/>
                  </a:lnTo>
                  <a:lnTo>
                    <a:pt x="818273" y="3492398"/>
                  </a:lnTo>
                  <a:lnTo>
                    <a:pt x="810933" y="3541420"/>
                  </a:lnTo>
                  <a:lnTo>
                    <a:pt x="804214" y="3590556"/>
                  </a:lnTo>
                  <a:lnTo>
                    <a:pt x="798131" y="3639794"/>
                  </a:lnTo>
                  <a:lnTo>
                    <a:pt x="792695" y="3689134"/>
                  </a:lnTo>
                  <a:lnTo>
                    <a:pt x="787895" y="3738575"/>
                  </a:lnTo>
                  <a:lnTo>
                    <a:pt x="783755" y="3788118"/>
                  </a:lnTo>
                  <a:lnTo>
                    <a:pt x="780262" y="3837775"/>
                  </a:lnTo>
                  <a:lnTo>
                    <a:pt x="777544" y="3885857"/>
                  </a:lnTo>
                  <a:lnTo>
                    <a:pt x="777443" y="3887533"/>
                  </a:lnTo>
                  <a:lnTo>
                    <a:pt x="775309" y="3937381"/>
                  </a:lnTo>
                  <a:lnTo>
                    <a:pt x="775309" y="3959860"/>
                  </a:lnTo>
                  <a:lnTo>
                    <a:pt x="775309" y="3960368"/>
                  </a:lnTo>
                  <a:lnTo>
                    <a:pt x="782294" y="3981856"/>
                  </a:lnTo>
                  <a:lnTo>
                    <a:pt x="789724" y="4004183"/>
                  </a:lnTo>
                  <a:lnTo>
                    <a:pt x="798017" y="4026522"/>
                  </a:lnTo>
                  <a:lnTo>
                    <a:pt x="807605" y="4047998"/>
                  </a:lnTo>
                  <a:lnTo>
                    <a:pt x="807605" y="3937381"/>
                  </a:lnTo>
                  <a:lnTo>
                    <a:pt x="809777" y="3887533"/>
                  </a:lnTo>
                  <a:lnTo>
                    <a:pt x="812850" y="3834396"/>
                  </a:lnTo>
                  <a:lnTo>
                    <a:pt x="816546" y="3782999"/>
                  </a:lnTo>
                  <a:lnTo>
                    <a:pt x="820966" y="3731679"/>
                  </a:lnTo>
                  <a:lnTo>
                    <a:pt x="826058" y="3680434"/>
                  </a:lnTo>
                  <a:lnTo>
                    <a:pt x="831837" y="3629279"/>
                  </a:lnTo>
                  <a:lnTo>
                    <a:pt x="838288" y="3578212"/>
                  </a:lnTo>
                  <a:lnTo>
                    <a:pt x="845388" y="3527234"/>
                  </a:lnTo>
                  <a:lnTo>
                    <a:pt x="853122" y="3476358"/>
                  </a:lnTo>
                  <a:lnTo>
                    <a:pt x="861491" y="3425583"/>
                  </a:lnTo>
                  <a:lnTo>
                    <a:pt x="870470" y="3374923"/>
                  </a:lnTo>
                  <a:lnTo>
                    <a:pt x="880046" y="3324364"/>
                  </a:lnTo>
                  <a:lnTo>
                    <a:pt x="890206" y="3273933"/>
                  </a:lnTo>
                  <a:lnTo>
                    <a:pt x="900950" y="3223628"/>
                  </a:lnTo>
                  <a:lnTo>
                    <a:pt x="912253" y="3173450"/>
                  </a:lnTo>
                  <a:lnTo>
                    <a:pt x="924102" y="3123412"/>
                  </a:lnTo>
                  <a:lnTo>
                    <a:pt x="936485" y="3073514"/>
                  </a:lnTo>
                  <a:lnTo>
                    <a:pt x="949401" y="3023755"/>
                  </a:lnTo>
                  <a:lnTo>
                    <a:pt x="962812" y="2974136"/>
                  </a:lnTo>
                  <a:lnTo>
                    <a:pt x="976731" y="2924683"/>
                  </a:lnTo>
                  <a:lnTo>
                    <a:pt x="991133" y="2875394"/>
                  </a:lnTo>
                  <a:lnTo>
                    <a:pt x="1006005" y="2826258"/>
                  </a:lnTo>
                  <a:lnTo>
                    <a:pt x="1021981" y="2777299"/>
                  </a:lnTo>
                  <a:lnTo>
                    <a:pt x="1038479" y="2728518"/>
                  </a:lnTo>
                  <a:lnTo>
                    <a:pt x="1055471" y="2679903"/>
                  </a:lnTo>
                  <a:lnTo>
                    <a:pt x="1072946" y="2631452"/>
                  </a:lnTo>
                  <a:lnTo>
                    <a:pt x="1090917" y="2583180"/>
                  </a:lnTo>
                  <a:lnTo>
                    <a:pt x="1109357" y="2535085"/>
                  </a:lnTo>
                  <a:lnTo>
                    <a:pt x="1128268" y="2487155"/>
                  </a:lnTo>
                  <a:lnTo>
                    <a:pt x="1147648" y="2439403"/>
                  </a:lnTo>
                  <a:lnTo>
                    <a:pt x="1167472" y="2391816"/>
                  </a:lnTo>
                  <a:lnTo>
                    <a:pt x="1187742" y="2344407"/>
                  </a:lnTo>
                  <a:lnTo>
                    <a:pt x="1208443" y="2297163"/>
                  </a:lnTo>
                  <a:lnTo>
                    <a:pt x="1229575" y="2250097"/>
                  </a:lnTo>
                  <a:lnTo>
                    <a:pt x="1251127" y="2203208"/>
                  </a:lnTo>
                  <a:lnTo>
                    <a:pt x="1273098" y="2156485"/>
                  </a:lnTo>
                  <a:lnTo>
                    <a:pt x="1295476" y="2109940"/>
                  </a:lnTo>
                  <a:lnTo>
                    <a:pt x="1318247" y="2063559"/>
                  </a:lnTo>
                  <a:lnTo>
                    <a:pt x="1341412" y="2017356"/>
                  </a:lnTo>
                  <a:lnTo>
                    <a:pt x="1364945" y="1971319"/>
                  </a:lnTo>
                  <a:lnTo>
                    <a:pt x="1388872" y="1925459"/>
                  </a:lnTo>
                  <a:lnTo>
                    <a:pt x="1413154" y="1879777"/>
                  </a:lnTo>
                  <a:lnTo>
                    <a:pt x="1437792" y="1834261"/>
                  </a:lnTo>
                  <a:lnTo>
                    <a:pt x="1462786" y="1788922"/>
                  </a:lnTo>
                  <a:lnTo>
                    <a:pt x="1488109" y="1743773"/>
                  </a:lnTo>
                  <a:lnTo>
                    <a:pt x="1513789" y="1698840"/>
                  </a:lnTo>
                  <a:lnTo>
                    <a:pt x="1539786" y="1654136"/>
                  </a:lnTo>
                  <a:lnTo>
                    <a:pt x="1566125" y="1609648"/>
                  </a:lnTo>
                  <a:lnTo>
                    <a:pt x="1592783" y="1565376"/>
                  </a:lnTo>
                  <a:lnTo>
                    <a:pt x="1619758" y="1521320"/>
                  </a:lnTo>
                  <a:lnTo>
                    <a:pt x="1647037" y="1477479"/>
                  </a:lnTo>
                  <a:lnTo>
                    <a:pt x="1674634" y="1433855"/>
                  </a:lnTo>
                  <a:lnTo>
                    <a:pt x="1702523" y="1390434"/>
                  </a:lnTo>
                  <a:lnTo>
                    <a:pt x="1730717" y="1347216"/>
                  </a:lnTo>
                  <a:lnTo>
                    <a:pt x="1759204" y="1304201"/>
                  </a:lnTo>
                  <a:lnTo>
                    <a:pt x="1787969" y="1261389"/>
                  </a:lnTo>
                  <a:lnTo>
                    <a:pt x="1817014" y="1218768"/>
                  </a:lnTo>
                  <a:lnTo>
                    <a:pt x="1846338" y="1176350"/>
                  </a:lnTo>
                  <a:lnTo>
                    <a:pt x="1875942" y="1134110"/>
                  </a:lnTo>
                  <a:lnTo>
                    <a:pt x="1905812" y="1092073"/>
                  </a:lnTo>
                  <a:lnTo>
                    <a:pt x="1935937" y="1050226"/>
                  </a:lnTo>
                  <a:lnTo>
                    <a:pt x="1966315" y="1008545"/>
                  </a:lnTo>
                  <a:lnTo>
                    <a:pt x="1996948" y="967066"/>
                  </a:lnTo>
                  <a:lnTo>
                    <a:pt x="2027821" y="925753"/>
                  </a:lnTo>
                  <a:lnTo>
                    <a:pt x="2058936" y="884618"/>
                  </a:lnTo>
                  <a:lnTo>
                    <a:pt x="2090293" y="843661"/>
                  </a:lnTo>
                  <a:lnTo>
                    <a:pt x="2121954" y="803452"/>
                  </a:lnTo>
                  <a:lnTo>
                    <a:pt x="2154047" y="763282"/>
                  </a:lnTo>
                  <a:lnTo>
                    <a:pt x="2186521" y="723188"/>
                  </a:lnTo>
                  <a:lnTo>
                    <a:pt x="2219312" y="683221"/>
                  </a:lnTo>
                  <a:lnTo>
                    <a:pt x="2252408" y="643407"/>
                  </a:lnTo>
                  <a:lnTo>
                    <a:pt x="2285758" y="603796"/>
                  </a:lnTo>
                  <a:lnTo>
                    <a:pt x="2319312" y="564451"/>
                  </a:lnTo>
                  <a:lnTo>
                    <a:pt x="2353030" y="525373"/>
                  </a:lnTo>
                  <a:lnTo>
                    <a:pt x="2386876" y="486638"/>
                  </a:lnTo>
                  <a:lnTo>
                    <a:pt x="2420810" y="448284"/>
                  </a:lnTo>
                  <a:lnTo>
                    <a:pt x="2454783" y="410337"/>
                  </a:lnTo>
                  <a:lnTo>
                    <a:pt x="2487041" y="375424"/>
                  </a:lnTo>
                  <a:lnTo>
                    <a:pt x="2551620" y="304863"/>
                  </a:lnTo>
                  <a:lnTo>
                    <a:pt x="2583904" y="269976"/>
                  </a:lnTo>
                  <a:lnTo>
                    <a:pt x="2616187" y="235839"/>
                  </a:lnTo>
                  <a:lnTo>
                    <a:pt x="2648458" y="202819"/>
                  </a:lnTo>
                  <a:lnTo>
                    <a:pt x="2749994" y="102031"/>
                  </a:lnTo>
                  <a:lnTo>
                    <a:pt x="2783497" y="69354"/>
                  </a:lnTo>
                  <a:lnTo>
                    <a:pt x="2817253" y="36906"/>
                  </a:lnTo>
                  <a:lnTo>
                    <a:pt x="2851531" y="4572"/>
                  </a:lnTo>
                  <a:lnTo>
                    <a:pt x="2851531" y="0"/>
                  </a:lnTo>
                  <a:close/>
                </a:path>
              </a:pathLst>
            </a:custGeom>
            <a:solidFill>
              <a:srgbClr val="AF1CA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811"/>
              <a:ext cx="12192000" cy="68540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2" y="6839250"/>
              <a:ext cx="12191365" cy="0"/>
            </a:xfrm>
            <a:custGeom>
              <a:avLst/>
              <a:gdLst/>
              <a:ahLst/>
              <a:cxnLst/>
              <a:rect l="l" t="t" r="r" b="b"/>
              <a:pathLst>
                <a:path w="12191365">
                  <a:moveTo>
                    <a:pt x="0" y="0"/>
                  </a:moveTo>
                  <a:lnTo>
                    <a:pt x="12191238" y="0"/>
                  </a:lnTo>
                </a:path>
              </a:pathLst>
            </a:custGeom>
            <a:ln w="9525">
              <a:solidFill>
                <a:srgbClr val="EB84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87348" y="1899030"/>
            <a:ext cx="574738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" marR="5080" indent="-192405">
              <a:lnSpc>
                <a:spcPct val="100000"/>
              </a:lnSpc>
              <a:spcBef>
                <a:spcPts val="100"/>
              </a:spcBef>
            </a:pPr>
            <a:r>
              <a:rPr sz="5400" u="none" spc="110" dirty="0"/>
              <a:t>ABC</a:t>
            </a:r>
            <a:r>
              <a:rPr sz="5400" u="none" spc="-70" dirty="0"/>
              <a:t> </a:t>
            </a:r>
            <a:r>
              <a:rPr sz="5400" u="none" spc="50" dirty="0"/>
              <a:t>Call</a:t>
            </a:r>
            <a:r>
              <a:rPr sz="5400" u="none" spc="-55" dirty="0"/>
              <a:t> </a:t>
            </a:r>
            <a:r>
              <a:rPr sz="5400" u="none" spc="-20" dirty="0"/>
              <a:t>Volume </a:t>
            </a:r>
            <a:r>
              <a:rPr sz="5400" u="none" spc="-320" dirty="0"/>
              <a:t>Trend</a:t>
            </a:r>
            <a:r>
              <a:rPr sz="5400" u="none" spc="-70" dirty="0"/>
              <a:t> </a:t>
            </a:r>
            <a:r>
              <a:rPr sz="5400" u="none" spc="-10" dirty="0"/>
              <a:t>Analysis</a:t>
            </a:r>
            <a:endParaRPr sz="5400"/>
          </a:p>
        </p:txBody>
      </p:sp>
      <p:grpSp>
        <p:nvGrpSpPr>
          <p:cNvPr id="8" name="object 8"/>
          <p:cNvGrpSpPr/>
          <p:nvPr/>
        </p:nvGrpSpPr>
        <p:grpSpPr>
          <a:xfrm>
            <a:off x="1191856" y="772668"/>
            <a:ext cx="10975340" cy="5167630"/>
            <a:chOff x="1191856" y="772668"/>
            <a:chExt cx="10975340" cy="5167630"/>
          </a:xfrm>
        </p:grpSpPr>
        <p:sp>
          <p:nvSpPr>
            <p:cNvPr id="9" name="object 9"/>
            <p:cNvSpPr/>
            <p:nvPr/>
          </p:nvSpPr>
          <p:spPr>
            <a:xfrm>
              <a:off x="1191856" y="3482340"/>
              <a:ext cx="4704715" cy="60960"/>
            </a:xfrm>
            <a:custGeom>
              <a:avLst/>
              <a:gdLst/>
              <a:ahLst/>
              <a:cxnLst/>
              <a:rect l="l" t="t" r="r" b="b"/>
              <a:pathLst>
                <a:path w="4704715" h="60960">
                  <a:moveTo>
                    <a:pt x="4704626" y="0"/>
                  </a:moveTo>
                  <a:lnTo>
                    <a:pt x="0" y="0"/>
                  </a:lnTo>
                  <a:lnTo>
                    <a:pt x="0" y="60960"/>
                  </a:lnTo>
                  <a:lnTo>
                    <a:pt x="4704626" y="60960"/>
                  </a:lnTo>
                  <a:lnTo>
                    <a:pt x="47046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93051" y="772668"/>
              <a:ext cx="5273802" cy="5167122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0" y="0"/>
              <a:ext cx="1742439" cy="6858000"/>
            </a:xfrm>
            <a:custGeom>
              <a:avLst/>
              <a:gdLst/>
              <a:ahLst/>
              <a:cxnLst/>
              <a:rect l="l" t="t" r="r" b="b"/>
              <a:pathLst>
                <a:path w="1742439" h="6858000">
                  <a:moveTo>
                    <a:pt x="1742274" y="4712513"/>
                  </a:moveTo>
                  <a:lnTo>
                    <a:pt x="1740535" y="4700841"/>
                  </a:lnTo>
                  <a:lnTo>
                    <a:pt x="1735328" y="4689602"/>
                  </a:lnTo>
                  <a:lnTo>
                    <a:pt x="1378839" y="4337939"/>
                  </a:lnTo>
                  <a:lnTo>
                    <a:pt x="1378839" y="4333240"/>
                  </a:lnTo>
                  <a:lnTo>
                    <a:pt x="1374140" y="4333240"/>
                  </a:lnTo>
                  <a:lnTo>
                    <a:pt x="1369733" y="4329798"/>
                  </a:lnTo>
                  <a:lnTo>
                    <a:pt x="1363560" y="4326788"/>
                  </a:lnTo>
                  <a:lnTo>
                    <a:pt x="1355636" y="4324655"/>
                  </a:lnTo>
                  <a:lnTo>
                    <a:pt x="1345946" y="4323842"/>
                  </a:lnTo>
                  <a:lnTo>
                    <a:pt x="182880" y="4323842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4323842"/>
                  </a:lnTo>
                  <a:lnTo>
                    <a:pt x="0" y="5102352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5102352"/>
                  </a:lnTo>
                  <a:lnTo>
                    <a:pt x="1345946" y="5102352"/>
                  </a:lnTo>
                  <a:lnTo>
                    <a:pt x="1355636" y="5101552"/>
                  </a:lnTo>
                  <a:lnTo>
                    <a:pt x="1363560" y="5099431"/>
                  </a:lnTo>
                  <a:lnTo>
                    <a:pt x="1369733" y="5096459"/>
                  </a:lnTo>
                  <a:lnTo>
                    <a:pt x="1374140" y="5093081"/>
                  </a:lnTo>
                  <a:lnTo>
                    <a:pt x="1374140" y="5088382"/>
                  </a:lnTo>
                  <a:lnTo>
                    <a:pt x="1378839" y="5088382"/>
                  </a:lnTo>
                  <a:lnTo>
                    <a:pt x="1735328" y="4731893"/>
                  </a:lnTo>
                  <a:lnTo>
                    <a:pt x="1740535" y="4723308"/>
                  </a:lnTo>
                  <a:lnTo>
                    <a:pt x="1742274" y="471251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3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53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51231" y="124205"/>
            <a:ext cx="3793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80" dirty="0">
                <a:solidFill>
                  <a:srgbClr val="FFFFFF"/>
                </a:solidFill>
                <a:latin typeface="Tahoma"/>
                <a:cs typeface="Tahoma"/>
              </a:rPr>
              <a:t>Table</a:t>
            </a:r>
            <a:r>
              <a:rPr sz="3600" b="1" spc="-1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114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600" b="1" spc="-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b="1" spc="-80" dirty="0">
                <a:solidFill>
                  <a:srgbClr val="FFFFFF"/>
                </a:solidFill>
                <a:latin typeface="Tahoma"/>
                <a:cs typeface="Tahoma"/>
              </a:rPr>
              <a:t>Content: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5879" y="4515992"/>
            <a:ext cx="3826510" cy="0"/>
          </a:xfrm>
          <a:custGeom>
            <a:avLst/>
            <a:gdLst/>
            <a:ahLst/>
            <a:cxnLst/>
            <a:rect l="l" t="t" r="r" b="b"/>
            <a:pathLst>
              <a:path w="3826509">
                <a:moveTo>
                  <a:pt x="0" y="0"/>
                </a:moveTo>
                <a:lnTo>
                  <a:pt x="3826002" y="0"/>
                </a:lnTo>
              </a:path>
            </a:pathLst>
          </a:custGeom>
          <a:ln w="9525">
            <a:solidFill>
              <a:srgbClr val="F42B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5879" y="5512053"/>
            <a:ext cx="3826510" cy="0"/>
          </a:xfrm>
          <a:custGeom>
            <a:avLst/>
            <a:gdLst/>
            <a:ahLst/>
            <a:cxnLst/>
            <a:rect l="l" t="t" r="r" b="b"/>
            <a:pathLst>
              <a:path w="3826509">
                <a:moveTo>
                  <a:pt x="0" y="0"/>
                </a:moveTo>
                <a:lnTo>
                  <a:pt x="3826002" y="0"/>
                </a:lnTo>
              </a:path>
            </a:pathLst>
          </a:custGeom>
          <a:ln w="9525">
            <a:solidFill>
              <a:srgbClr val="872E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5879" y="6508000"/>
            <a:ext cx="3826510" cy="0"/>
          </a:xfrm>
          <a:custGeom>
            <a:avLst/>
            <a:gdLst/>
            <a:ahLst/>
            <a:cxnLst/>
            <a:rect l="l" t="t" r="r" b="b"/>
            <a:pathLst>
              <a:path w="3826509">
                <a:moveTo>
                  <a:pt x="0" y="0"/>
                </a:moveTo>
                <a:lnTo>
                  <a:pt x="3826002" y="0"/>
                </a:lnTo>
              </a:path>
            </a:pathLst>
          </a:custGeom>
          <a:ln w="9525">
            <a:solidFill>
              <a:srgbClr val="349F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95879" y="1380871"/>
            <a:ext cx="3964940" cy="0"/>
          </a:xfrm>
          <a:custGeom>
            <a:avLst/>
            <a:gdLst/>
            <a:ahLst/>
            <a:cxnLst/>
            <a:rect l="l" t="t" r="r" b="b"/>
            <a:pathLst>
              <a:path w="3964940">
                <a:moveTo>
                  <a:pt x="0" y="0"/>
                </a:moveTo>
                <a:lnTo>
                  <a:pt x="3964940" y="0"/>
                </a:lnTo>
              </a:path>
            </a:pathLst>
          </a:custGeom>
          <a:ln w="9525">
            <a:solidFill>
              <a:srgbClr val="F42B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220592" y="1578686"/>
            <a:ext cx="250444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75" dirty="0">
                <a:latin typeface="Verdana"/>
                <a:cs typeface="Verdana"/>
              </a:rPr>
              <a:t>Description</a:t>
            </a:r>
          </a:p>
        </p:txBody>
      </p:sp>
      <p:sp>
        <p:nvSpPr>
          <p:cNvPr id="12" name="object 12"/>
          <p:cNvSpPr/>
          <p:nvPr/>
        </p:nvSpPr>
        <p:spPr>
          <a:xfrm>
            <a:off x="3095879" y="2413000"/>
            <a:ext cx="3964940" cy="0"/>
          </a:xfrm>
          <a:custGeom>
            <a:avLst/>
            <a:gdLst/>
            <a:ahLst/>
            <a:cxnLst/>
            <a:rect l="l" t="t" r="r" b="b"/>
            <a:pathLst>
              <a:path w="3964940">
                <a:moveTo>
                  <a:pt x="0" y="0"/>
                </a:moveTo>
                <a:lnTo>
                  <a:pt x="3964940" y="0"/>
                </a:lnTo>
              </a:path>
            </a:pathLst>
          </a:custGeom>
          <a:ln w="9525">
            <a:solidFill>
              <a:srgbClr val="872EE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95879" y="3445128"/>
            <a:ext cx="3964940" cy="0"/>
          </a:xfrm>
          <a:custGeom>
            <a:avLst/>
            <a:gdLst/>
            <a:ahLst/>
            <a:cxnLst/>
            <a:rect l="l" t="t" r="r" b="b"/>
            <a:pathLst>
              <a:path w="3964940">
                <a:moveTo>
                  <a:pt x="0" y="0"/>
                </a:moveTo>
                <a:lnTo>
                  <a:pt x="3964940" y="0"/>
                </a:lnTo>
              </a:path>
            </a:pathLst>
          </a:custGeom>
          <a:ln w="9525">
            <a:solidFill>
              <a:srgbClr val="349F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220592" y="2611069"/>
            <a:ext cx="3677920" cy="3682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05" dirty="0">
                <a:solidFill>
                  <a:srgbClr val="FFFFFF"/>
                </a:solidFill>
                <a:latin typeface="Verdana"/>
                <a:cs typeface="Verdana"/>
              </a:rPr>
              <a:t>Approach</a:t>
            </a:r>
            <a:endParaRPr sz="3600">
              <a:latin typeface="Verdana"/>
              <a:cs typeface="Verdana"/>
            </a:endParaRPr>
          </a:p>
          <a:p>
            <a:pPr marL="12700" marR="5080">
              <a:lnSpc>
                <a:spcPts val="8290"/>
              </a:lnSpc>
              <a:spcBef>
                <a:spcPts val="775"/>
              </a:spcBef>
            </a:pPr>
            <a:r>
              <a:rPr sz="3600" spc="-135" dirty="0">
                <a:solidFill>
                  <a:srgbClr val="FFFFFF"/>
                </a:solidFill>
                <a:latin typeface="Verdana"/>
                <a:cs typeface="Verdana"/>
              </a:rPr>
              <a:t>Tech-</a:t>
            </a:r>
            <a:r>
              <a:rPr sz="3600" spc="-110" dirty="0">
                <a:solidFill>
                  <a:srgbClr val="FFFFFF"/>
                </a:solidFill>
                <a:latin typeface="Verdana"/>
                <a:cs typeface="Verdana"/>
              </a:rPr>
              <a:t>Stack</a:t>
            </a:r>
            <a:r>
              <a:rPr sz="3600" spc="-1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600" spc="-65" dirty="0">
                <a:solidFill>
                  <a:srgbClr val="FFFFFF"/>
                </a:solidFill>
                <a:latin typeface="Verdana"/>
                <a:cs typeface="Verdana"/>
              </a:rPr>
              <a:t>Used </a:t>
            </a:r>
            <a:r>
              <a:rPr sz="3600" spc="-290" dirty="0">
                <a:solidFill>
                  <a:srgbClr val="FFFFFF"/>
                </a:solidFill>
                <a:latin typeface="Verdana"/>
                <a:cs typeface="Verdana"/>
              </a:rPr>
              <a:t>Insights</a:t>
            </a:r>
            <a:endParaRPr sz="3600">
              <a:latin typeface="Verdana"/>
              <a:cs typeface="Verdana"/>
            </a:endParaRPr>
          </a:p>
          <a:p>
            <a:pPr marL="27305">
              <a:lnSpc>
                <a:spcPct val="100000"/>
              </a:lnSpc>
              <a:spcBef>
                <a:spcPts val="2315"/>
              </a:spcBef>
            </a:pPr>
            <a:r>
              <a:rPr sz="4000" spc="-70" dirty="0">
                <a:solidFill>
                  <a:srgbClr val="FFFFFF"/>
                </a:solidFill>
                <a:latin typeface="Verdana"/>
                <a:cs typeface="Verdana"/>
              </a:rPr>
              <a:t>Result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883140" cy="6858000"/>
            <a:chOff x="0" y="0"/>
            <a:chExt cx="988314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2605" y="346900"/>
              <a:ext cx="7070089" cy="637473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136260" y="3208147"/>
            <a:ext cx="237299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spc="95" dirty="0">
                <a:solidFill>
                  <a:srgbClr val="FFFFFF"/>
                </a:solidFill>
                <a:latin typeface="Verdana"/>
                <a:cs typeface="Verdana"/>
              </a:rPr>
              <a:t>Approach</a:t>
            </a:r>
            <a:endParaRPr sz="3700">
              <a:latin typeface="Verdana"/>
              <a:cs typeface="Verdan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29605" y="686217"/>
            <a:ext cx="2187575" cy="9594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94"/>
              </a:spcBef>
            </a:pPr>
            <a:r>
              <a:rPr sz="2400" b="0" u="none" spc="-40" dirty="0">
                <a:latin typeface="Verdana"/>
                <a:cs typeface="Verdana"/>
              </a:rPr>
              <a:t>Understanding</a:t>
            </a:r>
            <a:endParaRPr sz="2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400" b="0" u="none" spc="-20" dirty="0">
                <a:latin typeface="Verdana"/>
                <a:cs typeface="Verdana"/>
              </a:rPr>
              <a:t>Data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125714" y="3073501"/>
            <a:ext cx="1325880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marR="5080" indent="-291465">
              <a:lnSpc>
                <a:spcPct val="127899"/>
              </a:lnSpc>
              <a:spcBef>
                <a:spcPts val="100"/>
              </a:spcBef>
            </a:pPr>
            <a:r>
              <a:rPr sz="2300" spc="-10" dirty="0">
                <a:solidFill>
                  <a:srgbClr val="FFFFFF"/>
                </a:solidFill>
                <a:latin typeface="Verdana"/>
                <a:cs typeface="Verdana"/>
              </a:rPr>
              <a:t>Cleaning </a:t>
            </a:r>
            <a:r>
              <a:rPr sz="2300" spc="-2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25210" y="5303316"/>
            <a:ext cx="1395730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5080" indent="-335280">
              <a:lnSpc>
                <a:spcPct val="127800"/>
              </a:lnSpc>
              <a:spcBef>
                <a:spcPts val="100"/>
              </a:spcBef>
            </a:pPr>
            <a:r>
              <a:rPr sz="2300" spc="-50" dirty="0">
                <a:solidFill>
                  <a:srgbClr val="FFFFFF"/>
                </a:solidFill>
                <a:latin typeface="Verdana"/>
                <a:cs typeface="Verdana"/>
              </a:rPr>
              <a:t>Analyzing </a:t>
            </a:r>
            <a:r>
              <a:rPr sz="2300" spc="6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86810" y="3044800"/>
            <a:ext cx="1456055" cy="9220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marR="5080" indent="-365760">
              <a:lnSpc>
                <a:spcPct val="127800"/>
              </a:lnSpc>
              <a:spcBef>
                <a:spcPts val="100"/>
              </a:spcBef>
            </a:pPr>
            <a:r>
              <a:rPr sz="2300" spc="-95" dirty="0">
                <a:solidFill>
                  <a:srgbClr val="FFFFFF"/>
                </a:solidFill>
                <a:latin typeface="Verdana"/>
                <a:cs typeface="Verdana"/>
              </a:rPr>
              <a:t>Visualizing </a:t>
            </a:r>
            <a:r>
              <a:rPr sz="2300" spc="65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1"/>
            <a:ext cx="12140184" cy="68384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44064" y="794766"/>
            <a:ext cx="4232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95" dirty="0"/>
              <a:t>Tech-</a:t>
            </a:r>
            <a:r>
              <a:rPr sz="4000" u="none" dirty="0"/>
              <a:t>stack</a:t>
            </a:r>
            <a:r>
              <a:rPr sz="4000" u="none" spc="-235" dirty="0"/>
              <a:t> </a:t>
            </a:r>
            <a:r>
              <a:rPr sz="4000" u="none" spc="-110" dirty="0"/>
              <a:t>Used: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4609465" cy="6858000"/>
            <a:chOff x="0" y="0"/>
            <a:chExt cx="4609465" cy="68580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0950" y="2005329"/>
              <a:ext cx="2071243" cy="190741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3804" y="4619244"/>
              <a:ext cx="2105533" cy="188455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98770" y="2227833"/>
            <a:ext cx="2816860" cy="1216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[Microsoft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Excel</a:t>
            </a:r>
            <a:r>
              <a:rPr sz="20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2016]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spc="-260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0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clean,</a:t>
            </a:r>
            <a:r>
              <a:rPr sz="20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analyze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4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visualize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98770" y="4997958"/>
            <a:ext cx="2862580" cy="880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5" dirty="0">
                <a:solidFill>
                  <a:srgbClr val="FFFFFF"/>
                </a:solidFill>
                <a:latin typeface="Verdana"/>
                <a:cs typeface="Verdana"/>
              </a:rPr>
              <a:t>[Microsoft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FFFFFF"/>
                </a:solidFill>
                <a:latin typeface="Verdana"/>
                <a:cs typeface="Verdana"/>
              </a:rPr>
              <a:t>Power-</a:t>
            </a:r>
            <a:r>
              <a:rPr sz="2000" spc="-50" dirty="0">
                <a:solidFill>
                  <a:srgbClr val="FFFFFF"/>
                </a:solidFill>
                <a:latin typeface="Verdana"/>
                <a:cs typeface="Verdana"/>
              </a:rPr>
              <a:t>Point]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170"/>
              </a:spcBef>
            </a:pPr>
            <a:r>
              <a:rPr sz="1800" spc="-225" dirty="0">
                <a:solidFill>
                  <a:srgbClr val="FFFFFF"/>
                </a:solidFill>
                <a:latin typeface="Verdana"/>
                <a:cs typeface="Verdana"/>
              </a:rPr>
              <a:t>-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make</a:t>
            </a:r>
            <a:r>
              <a:rPr sz="1800" spc="-1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report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3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4766945" cy="6858000"/>
            <a:chOff x="0" y="0"/>
            <a:chExt cx="476694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53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28419" y="4786757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930017" y="0"/>
                  </a:moveTo>
                  <a:lnTo>
                    <a:pt x="213487" y="0"/>
                  </a:lnTo>
                  <a:lnTo>
                    <a:pt x="164552" y="5634"/>
                  </a:lnTo>
                  <a:lnTo>
                    <a:pt x="119622" y="21685"/>
                  </a:lnTo>
                  <a:lnTo>
                    <a:pt x="79982" y="46876"/>
                  </a:lnTo>
                  <a:lnTo>
                    <a:pt x="46916" y="79929"/>
                  </a:lnTo>
                  <a:lnTo>
                    <a:pt x="21707" y="119566"/>
                  </a:lnTo>
                  <a:lnTo>
                    <a:pt x="5640" y="164512"/>
                  </a:lnTo>
                  <a:lnTo>
                    <a:pt x="0" y="213487"/>
                  </a:lnTo>
                  <a:lnTo>
                    <a:pt x="0" y="1280845"/>
                  </a:lnTo>
                  <a:lnTo>
                    <a:pt x="2716530" y="1280845"/>
                  </a:lnTo>
                  <a:lnTo>
                    <a:pt x="2765504" y="1275207"/>
                  </a:lnTo>
                  <a:lnTo>
                    <a:pt x="2810450" y="1259146"/>
                  </a:lnTo>
                  <a:lnTo>
                    <a:pt x="2850087" y="1233945"/>
                  </a:lnTo>
                  <a:lnTo>
                    <a:pt x="2883140" y="1200884"/>
                  </a:lnTo>
                  <a:lnTo>
                    <a:pt x="2908331" y="1161245"/>
                  </a:lnTo>
                  <a:lnTo>
                    <a:pt x="2924382" y="1116309"/>
                  </a:lnTo>
                  <a:lnTo>
                    <a:pt x="2930017" y="1067358"/>
                  </a:lnTo>
                  <a:lnTo>
                    <a:pt x="2930017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8419" y="4786757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13487" y="0"/>
                  </a:moveTo>
                  <a:lnTo>
                    <a:pt x="2930017" y="0"/>
                  </a:lnTo>
                  <a:lnTo>
                    <a:pt x="2930017" y="1067358"/>
                  </a:lnTo>
                  <a:lnTo>
                    <a:pt x="2924382" y="1116309"/>
                  </a:lnTo>
                  <a:lnTo>
                    <a:pt x="2908331" y="1161245"/>
                  </a:lnTo>
                  <a:lnTo>
                    <a:pt x="2883140" y="1200884"/>
                  </a:lnTo>
                  <a:lnTo>
                    <a:pt x="2850087" y="1233945"/>
                  </a:lnTo>
                  <a:lnTo>
                    <a:pt x="2810450" y="1259146"/>
                  </a:lnTo>
                  <a:lnTo>
                    <a:pt x="2765504" y="1275207"/>
                  </a:lnTo>
                  <a:lnTo>
                    <a:pt x="2716530" y="1280845"/>
                  </a:lnTo>
                  <a:lnTo>
                    <a:pt x="0" y="1280845"/>
                  </a:lnTo>
                  <a:lnTo>
                    <a:pt x="0" y="213487"/>
                  </a:lnTo>
                  <a:lnTo>
                    <a:pt x="5640" y="164512"/>
                  </a:lnTo>
                  <a:lnTo>
                    <a:pt x="21707" y="119566"/>
                  </a:lnTo>
                  <a:lnTo>
                    <a:pt x="46916" y="79929"/>
                  </a:lnTo>
                  <a:lnTo>
                    <a:pt x="79982" y="46876"/>
                  </a:lnTo>
                  <a:lnTo>
                    <a:pt x="119622" y="21685"/>
                  </a:lnTo>
                  <a:lnTo>
                    <a:pt x="164552" y="5634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146930" y="331978"/>
            <a:ext cx="44284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20" dirty="0"/>
              <a:t>Data</a:t>
            </a:r>
            <a:r>
              <a:rPr u="none" spc="-225" dirty="0"/>
              <a:t> </a:t>
            </a:r>
            <a:r>
              <a:rPr u="none" spc="-100" dirty="0"/>
              <a:t>Understanding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4623117" y="1474152"/>
            <a:ext cx="2945765" cy="1296670"/>
            <a:chOff x="4623117" y="1474152"/>
            <a:chExt cx="2945765" cy="1296670"/>
          </a:xfrm>
        </p:grpSpPr>
        <p:sp>
          <p:nvSpPr>
            <p:cNvPr id="10" name="object 10"/>
            <p:cNvSpPr/>
            <p:nvPr/>
          </p:nvSpPr>
          <p:spPr>
            <a:xfrm>
              <a:off x="4631054" y="1482089"/>
              <a:ext cx="2929890" cy="1280795"/>
            </a:xfrm>
            <a:custGeom>
              <a:avLst/>
              <a:gdLst/>
              <a:ahLst/>
              <a:cxnLst/>
              <a:rect l="l" t="t" r="r" b="b"/>
              <a:pathLst>
                <a:path w="2929890" h="1280795">
                  <a:moveTo>
                    <a:pt x="2929890" y="0"/>
                  </a:moveTo>
                  <a:lnTo>
                    <a:pt x="213487" y="0"/>
                  </a:lnTo>
                  <a:lnTo>
                    <a:pt x="164512" y="5634"/>
                  </a:lnTo>
                  <a:lnTo>
                    <a:pt x="119566" y="21685"/>
                  </a:lnTo>
                  <a:lnTo>
                    <a:pt x="79929" y="46876"/>
                  </a:lnTo>
                  <a:lnTo>
                    <a:pt x="46876" y="79929"/>
                  </a:lnTo>
                  <a:lnTo>
                    <a:pt x="21685" y="119566"/>
                  </a:lnTo>
                  <a:lnTo>
                    <a:pt x="5634" y="164512"/>
                  </a:lnTo>
                  <a:lnTo>
                    <a:pt x="0" y="213487"/>
                  </a:lnTo>
                  <a:lnTo>
                    <a:pt x="0" y="1280795"/>
                  </a:lnTo>
                  <a:lnTo>
                    <a:pt x="2716403" y="1280795"/>
                  </a:lnTo>
                  <a:lnTo>
                    <a:pt x="2765377" y="1275160"/>
                  </a:lnTo>
                  <a:lnTo>
                    <a:pt x="2810323" y="1259109"/>
                  </a:lnTo>
                  <a:lnTo>
                    <a:pt x="2849960" y="1233918"/>
                  </a:lnTo>
                  <a:lnTo>
                    <a:pt x="2883013" y="1200865"/>
                  </a:lnTo>
                  <a:lnTo>
                    <a:pt x="2908204" y="1161228"/>
                  </a:lnTo>
                  <a:lnTo>
                    <a:pt x="2924255" y="1116282"/>
                  </a:lnTo>
                  <a:lnTo>
                    <a:pt x="2929890" y="1067308"/>
                  </a:lnTo>
                  <a:lnTo>
                    <a:pt x="2929890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631054" y="1482089"/>
              <a:ext cx="2929890" cy="1280795"/>
            </a:xfrm>
            <a:custGeom>
              <a:avLst/>
              <a:gdLst/>
              <a:ahLst/>
              <a:cxnLst/>
              <a:rect l="l" t="t" r="r" b="b"/>
              <a:pathLst>
                <a:path w="2929890" h="1280795">
                  <a:moveTo>
                    <a:pt x="213487" y="0"/>
                  </a:moveTo>
                  <a:lnTo>
                    <a:pt x="2929890" y="0"/>
                  </a:lnTo>
                  <a:lnTo>
                    <a:pt x="2929890" y="1067308"/>
                  </a:lnTo>
                  <a:lnTo>
                    <a:pt x="2924255" y="1116282"/>
                  </a:lnTo>
                  <a:lnTo>
                    <a:pt x="2908204" y="1161228"/>
                  </a:lnTo>
                  <a:lnTo>
                    <a:pt x="2883013" y="1200865"/>
                  </a:lnTo>
                  <a:lnTo>
                    <a:pt x="2849960" y="1233918"/>
                  </a:lnTo>
                  <a:lnTo>
                    <a:pt x="2810323" y="1259109"/>
                  </a:lnTo>
                  <a:lnTo>
                    <a:pt x="2765377" y="1275160"/>
                  </a:lnTo>
                  <a:lnTo>
                    <a:pt x="2716403" y="1280795"/>
                  </a:lnTo>
                  <a:lnTo>
                    <a:pt x="0" y="1280795"/>
                  </a:lnTo>
                  <a:lnTo>
                    <a:pt x="0" y="213487"/>
                  </a:lnTo>
                  <a:lnTo>
                    <a:pt x="5634" y="164512"/>
                  </a:lnTo>
                  <a:lnTo>
                    <a:pt x="21685" y="119566"/>
                  </a:lnTo>
                  <a:lnTo>
                    <a:pt x="46876" y="79929"/>
                  </a:lnTo>
                  <a:lnTo>
                    <a:pt x="79929" y="46876"/>
                  </a:lnTo>
                  <a:lnTo>
                    <a:pt x="119566" y="21685"/>
                  </a:lnTo>
                  <a:lnTo>
                    <a:pt x="164512" y="5634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858892" y="1738376"/>
            <a:ext cx="2476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0080" marR="5080" indent="-628015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24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60" dirty="0">
                <a:solidFill>
                  <a:srgbClr val="FFFFFF"/>
                </a:solidFill>
                <a:latin typeface="Tahoma"/>
                <a:cs typeface="Tahoma"/>
              </a:rPr>
              <a:t>Rows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1,17,9</a:t>
            </a:r>
            <a:r>
              <a:rPr lang="en-US" sz="2400" b="1" spc="-50" dirty="0">
                <a:solidFill>
                  <a:srgbClr val="FFFFFF"/>
                </a:solidFill>
                <a:latin typeface="Tahoma"/>
                <a:cs typeface="Tahoma"/>
              </a:rPr>
              <a:t>89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09926" y="4982717"/>
            <a:ext cx="216725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8480" marR="5080" indent="-52578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Tahoma"/>
                <a:cs typeface="Tahoma"/>
              </a:rPr>
              <a:t>Wrapped</a:t>
            </a:r>
            <a:r>
              <a:rPr sz="2800" b="1" spc="-1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Tahoma"/>
                <a:cs typeface="Tahoma"/>
              </a:rPr>
              <a:t>by </a:t>
            </a:r>
            <a:r>
              <a:rPr sz="2800" b="1" spc="-55" dirty="0">
                <a:solidFill>
                  <a:srgbClr val="FFFFFF"/>
                </a:solidFill>
                <a:latin typeface="Tahoma"/>
                <a:cs typeface="Tahoma"/>
              </a:rPr>
              <a:t>47,877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70049" y="1435163"/>
            <a:ext cx="2946400" cy="1296670"/>
            <a:chOff x="8270049" y="1435163"/>
            <a:chExt cx="2946400" cy="1296670"/>
          </a:xfrm>
        </p:grpSpPr>
        <p:sp>
          <p:nvSpPr>
            <p:cNvPr id="15" name="object 15"/>
            <p:cNvSpPr/>
            <p:nvPr/>
          </p:nvSpPr>
          <p:spPr>
            <a:xfrm>
              <a:off x="8277986" y="1443100"/>
              <a:ext cx="2930525" cy="1280795"/>
            </a:xfrm>
            <a:custGeom>
              <a:avLst/>
              <a:gdLst/>
              <a:ahLst/>
              <a:cxnLst/>
              <a:rect l="l" t="t" r="r" b="b"/>
              <a:pathLst>
                <a:path w="2930525" h="1280795">
                  <a:moveTo>
                    <a:pt x="2930017" y="0"/>
                  </a:moveTo>
                  <a:lnTo>
                    <a:pt x="213487" y="0"/>
                  </a:lnTo>
                  <a:lnTo>
                    <a:pt x="164552" y="5634"/>
                  </a:lnTo>
                  <a:lnTo>
                    <a:pt x="119622" y="21685"/>
                  </a:lnTo>
                  <a:lnTo>
                    <a:pt x="79982" y="46876"/>
                  </a:lnTo>
                  <a:lnTo>
                    <a:pt x="46916" y="79929"/>
                  </a:lnTo>
                  <a:lnTo>
                    <a:pt x="21707" y="119566"/>
                  </a:lnTo>
                  <a:lnTo>
                    <a:pt x="5640" y="164512"/>
                  </a:lnTo>
                  <a:lnTo>
                    <a:pt x="0" y="213487"/>
                  </a:lnTo>
                  <a:lnTo>
                    <a:pt x="0" y="1280795"/>
                  </a:lnTo>
                  <a:lnTo>
                    <a:pt x="2716530" y="1280795"/>
                  </a:lnTo>
                  <a:lnTo>
                    <a:pt x="2765504" y="1275160"/>
                  </a:lnTo>
                  <a:lnTo>
                    <a:pt x="2810450" y="1259109"/>
                  </a:lnTo>
                  <a:lnTo>
                    <a:pt x="2850087" y="1233918"/>
                  </a:lnTo>
                  <a:lnTo>
                    <a:pt x="2883140" y="1200865"/>
                  </a:lnTo>
                  <a:lnTo>
                    <a:pt x="2908331" y="1161228"/>
                  </a:lnTo>
                  <a:lnTo>
                    <a:pt x="2924382" y="1116282"/>
                  </a:lnTo>
                  <a:lnTo>
                    <a:pt x="2930017" y="1067308"/>
                  </a:lnTo>
                  <a:lnTo>
                    <a:pt x="2930017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77986" y="1443100"/>
              <a:ext cx="2930525" cy="1280795"/>
            </a:xfrm>
            <a:custGeom>
              <a:avLst/>
              <a:gdLst/>
              <a:ahLst/>
              <a:cxnLst/>
              <a:rect l="l" t="t" r="r" b="b"/>
              <a:pathLst>
                <a:path w="2930525" h="1280795">
                  <a:moveTo>
                    <a:pt x="213487" y="0"/>
                  </a:moveTo>
                  <a:lnTo>
                    <a:pt x="2930017" y="0"/>
                  </a:lnTo>
                  <a:lnTo>
                    <a:pt x="2930017" y="1067308"/>
                  </a:lnTo>
                  <a:lnTo>
                    <a:pt x="2924382" y="1116282"/>
                  </a:lnTo>
                  <a:lnTo>
                    <a:pt x="2908331" y="1161228"/>
                  </a:lnTo>
                  <a:lnTo>
                    <a:pt x="2883140" y="1200865"/>
                  </a:lnTo>
                  <a:lnTo>
                    <a:pt x="2850087" y="1233918"/>
                  </a:lnTo>
                  <a:lnTo>
                    <a:pt x="2810450" y="1259109"/>
                  </a:lnTo>
                  <a:lnTo>
                    <a:pt x="2765504" y="1275160"/>
                  </a:lnTo>
                  <a:lnTo>
                    <a:pt x="2716530" y="1280795"/>
                  </a:lnTo>
                  <a:lnTo>
                    <a:pt x="0" y="1280795"/>
                  </a:lnTo>
                  <a:lnTo>
                    <a:pt x="0" y="213487"/>
                  </a:lnTo>
                  <a:lnTo>
                    <a:pt x="5640" y="164512"/>
                  </a:lnTo>
                  <a:lnTo>
                    <a:pt x="21707" y="119566"/>
                  </a:lnTo>
                  <a:lnTo>
                    <a:pt x="46916" y="79929"/>
                  </a:lnTo>
                  <a:lnTo>
                    <a:pt x="79982" y="46876"/>
                  </a:lnTo>
                  <a:lnTo>
                    <a:pt x="119622" y="21685"/>
                  </a:lnTo>
                  <a:lnTo>
                    <a:pt x="164552" y="5634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509507" y="1761870"/>
            <a:ext cx="247015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91565" marR="5080" indent="-1079500">
              <a:lnSpc>
                <a:spcPct val="100000"/>
              </a:lnSpc>
              <a:spcBef>
                <a:spcPts val="105"/>
              </a:spcBef>
            </a:pPr>
            <a:r>
              <a:rPr sz="2000" b="1" spc="-30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20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45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20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35" dirty="0">
                <a:solidFill>
                  <a:srgbClr val="FFFFFF"/>
                </a:solidFill>
                <a:latin typeface="Tahoma"/>
                <a:cs typeface="Tahoma"/>
              </a:rPr>
              <a:t>Columns </a:t>
            </a:r>
            <a:r>
              <a:rPr sz="2000" b="1" spc="-25" dirty="0">
                <a:solidFill>
                  <a:srgbClr val="FFFFFF"/>
                </a:solidFill>
                <a:latin typeface="Tahoma"/>
                <a:cs typeface="Tahoma"/>
              </a:rPr>
              <a:t>13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85650" y="4727511"/>
            <a:ext cx="2946400" cy="1297305"/>
            <a:chOff x="5585650" y="4727511"/>
            <a:chExt cx="2946400" cy="1297305"/>
          </a:xfrm>
        </p:grpSpPr>
        <p:sp>
          <p:nvSpPr>
            <p:cNvPr id="19" name="object 19"/>
            <p:cNvSpPr/>
            <p:nvPr/>
          </p:nvSpPr>
          <p:spPr>
            <a:xfrm>
              <a:off x="5593588" y="4735448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930016" y="0"/>
                  </a:moveTo>
                  <a:lnTo>
                    <a:pt x="213487" y="0"/>
                  </a:lnTo>
                  <a:lnTo>
                    <a:pt x="164552" y="5640"/>
                  </a:lnTo>
                  <a:lnTo>
                    <a:pt x="119622" y="21707"/>
                  </a:lnTo>
                  <a:lnTo>
                    <a:pt x="79982" y="46916"/>
                  </a:lnTo>
                  <a:lnTo>
                    <a:pt x="46916" y="79982"/>
                  </a:lnTo>
                  <a:lnTo>
                    <a:pt x="21707" y="119622"/>
                  </a:lnTo>
                  <a:lnTo>
                    <a:pt x="5640" y="164552"/>
                  </a:lnTo>
                  <a:lnTo>
                    <a:pt x="0" y="213487"/>
                  </a:lnTo>
                  <a:lnTo>
                    <a:pt x="0" y="1280934"/>
                  </a:lnTo>
                  <a:lnTo>
                    <a:pt x="2716530" y="1280934"/>
                  </a:lnTo>
                  <a:lnTo>
                    <a:pt x="2765464" y="1275296"/>
                  </a:lnTo>
                  <a:lnTo>
                    <a:pt x="2810394" y="1259235"/>
                  </a:lnTo>
                  <a:lnTo>
                    <a:pt x="2850034" y="1234034"/>
                  </a:lnTo>
                  <a:lnTo>
                    <a:pt x="2883100" y="1200973"/>
                  </a:lnTo>
                  <a:lnTo>
                    <a:pt x="2908309" y="1161334"/>
                  </a:lnTo>
                  <a:lnTo>
                    <a:pt x="2924376" y="1116398"/>
                  </a:lnTo>
                  <a:lnTo>
                    <a:pt x="2930016" y="1067447"/>
                  </a:lnTo>
                  <a:lnTo>
                    <a:pt x="2930016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93588" y="4735448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13487" y="0"/>
                  </a:moveTo>
                  <a:lnTo>
                    <a:pt x="2930016" y="0"/>
                  </a:lnTo>
                  <a:lnTo>
                    <a:pt x="2930016" y="1067447"/>
                  </a:lnTo>
                  <a:lnTo>
                    <a:pt x="2924376" y="1116398"/>
                  </a:lnTo>
                  <a:lnTo>
                    <a:pt x="2908309" y="1161334"/>
                  </a:lnTo>
                  <a:lnTo>
                    <a:pt x="2883100" y="1200973"/>
                  </a:lnTo>
                  <a:lnTo>
                    <a:pt x="2850034" y="1234034"/>
                  </a:lnTo>
                  <a:lnTo>
                    <a:pt x="2810394" y="1259235"/>
                  </a:lnTo>
                  <a:lnTo>
                    <a:pt x="2765464" y="1275296"/>
                  </a:lnTo>
                  <a:lnTo>
                    <a:pt x="2716530" y="1280934"/>
                  </a:lnTo>
                  <a:lnTo>
                    <a:pt x="0" y="1280934"/>
                  </a:lnTo>
                  <a:lnTo>
                    <a:pt x="0" y="213487"/>
                  </a:lnTo>
                  <a:lnTo>
                    <a:pt x="5640" y="164552"/>
                  </a:lnTo>
                  <a:lnTo>
                    <a:pt x="21707" y="119622"/>
                  </a:lnTo>
                  <a:lnTo>
                    <a:pt x="46916" y="79982"/>
                  </a:lnTo>
                  <a:lnTo>
                    <a:pt x="79982" y="46916"/>
                  </a:lnTo>
                  <a:lnTo>
                    <a:pt x="119622" y="21707"/>
                  </a:lnTo>
                  <a:lnTo>
                    <a:pt x="164552" y="5640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258814" y="5054853"/>
            <a:ext cx="1601470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5765" marR="5080" indent="-393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0" dirty="0">
                <a:solidFill>
                  <a:srgbClr val="FFFFFF"/>
                </a:solidFill>
                <a:latin typeface="Tahoma"/>
                <a:cs typeface="Tahoma"/>
              </a:rPr>
              <a:t>Name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34,198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890571" y="4727511"/>
            <a:ext cx="2946400" cy="1297305"/>
            <a:chOff x="8890571" y="4727511"/>
            <a:chExt cx="2946400" cy="1297305"/>
          </a:xfrm>
        </p:grpSpPr>
        <p:sp>
          <p:nvSpPr>
            <p:cNvPr id="23" name="object 23"/>
            <p:cNvSpPr/>
            <p:nvPr/>
          </p:nvSpPr>
          <p:spPr>
            <a:xfrm>
              <a:off x="8898508" y="4735448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930017" y="0"/>
                  </a:moveTo>
                  <a:lnTo>
                    <a:pt x="213487" y="0"/>
                  </a:lnTo>
                  <a:lnTo>
                    <a:pt x="164552" y="5640"/>
                  </a:lnTo>
                  <a:lnTo>
                    <a:pt x="119622" y="21707"/>
                  </a:lnTo>
                  <a:lnTo>
                    <a:pt x="79982" y="46916"/>
                  </a:lnTo>
                  <a:lnTo>
                    <a:pt x="46916" y="79982"/>
                  </a:lnTo>
                  <a:lnTo>
                    <a:pt x="21707" y="119622"/>
                  </a:lnTo>
                  <a:lnTo>
                    <a:pt x="5640" y="164552"/>
                  </a:lnTo>
                  <a:lnTo>
                    <a:pt x="0" y="213487"/>
                  </a:lnTo>
                  <a:lnTo>
                    <a:pt x="0" y="1280934"/>
                  </a:lnTo>
                  <a:lnTo>
                    <a:pt x="2716530" y="1280934"/>
                  </a:lnTo>
                  <a:lnTo>
                    <a:pt x="2765504" y="1275296"/>
                  </a:lnTo>
                  <a:lnTo>
                    <a:pt x="2810450" y="1259235"/>
                  </a:lnTo>
                  <a:lnTo>
                    <a:pt x="2850087" y="1234034"/>
                  </a:lnTo>
                  <a:lnTo>
                    <a:pt x="2883140" y="1200973"/>
                  </a:lnTo>
                  <a:lnTo>
                    <a:pt x="2908331" y="1161334"/>
                  </a:lnTo>
                  <a:lnTo>
                    <a:pt x="2924382" y="1116398"/>
                  </a:lnTo>
                  <a:lnTo>
                    <a:pt x="2930017" y="1067447"/>
                  </a:lnTo>
                  <a:lnTo>
                    <a:pt x="2930017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98508" y="4735448"/>
              <a:ext cx="2930525" cy="1281430"/>
            </a:xfrm>
            <a:custGeom>
              <a:avLst/>
              <a:gdLst/>
              <a:ahLst/>
              <a:cxnLst/>
              <a:rect l="l" t="t" r="r" b="b"/>
              <a:pathLst>
                <a:path w="2930525" h="1281429">
                  <a:moveTo>
                    <a:pt x="213487" y="0"/>
                  </a:moveTo>
                  <a:lnTo>
                    <a:pt x="2930017" y="0"/>
                  </a:lnTo>
                  <a:lnTo>
                    <a:pt x="2930017" y="1067447"/>
                  </a:lnTo>
                  <a:lnTo>
                    <a:pt x="2924382" y="1116398"/>
                  </a:lnTo>
                  <a:lnTo>
                    <a:pt x="2908331" y="1161334"/>
                  </a:lnTo>
                  <a:lnTo>
                    <a:pt x="2883140" y="1200973"/>
                  </a:lnTo>
                  <a:lnTo>
                    <a:pt x="2850087" y="1234034"/>
                  </a:lnTo>
                  <a:lnTo>
                    <a:pt x="2810450" y="1259235"/>
                  </a:lnTo>
                  <a:lnTo>
                    <a:pt x="2765504" y="1275296"/>
                  </a:lnTo>
                  <a:lnTo>
                    <a:pt x="2716530" y="1280934"/>
                  </a:lnTo>
                  <a:lnTo>
                    <a:pt x="0" y="1280934"/>
                  </a:lnTo>
                  <a:lnTo>
                    <a:pt x="0" y="213487"/>
                  </a:lnTo>
                  <a:lnTo>
                    <a:pt x="5640" y="164552"/>
                  </a:lnTo>
                  <a:lnTo>
                    <a:pt x="21707" y="119622"/>
                  </a:lnTo>
                  <a:lnTo>
                    <a:pt x="46916" y="79982"/>
                  </a:lnTo>
                  <a:lnTo>
                    <a:pt x="79982" y="46916"/>
                  </a:lnTo>
                  <a:lnTo>
                    <a:pt x="119622" y="21707"/>
                  </a:lnTo>
                  <a:lnTo>
                    <a:pt x="164552" y="5640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818878" y="4917694"/>
            <a:ext cx="10922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130" marR="5080" indent="-13906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Agent</a:t>
            </a:r>
            <a:r>
              <a:rPr sz="200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290" dirty="0">
                <a:solidFill>
                  <a:srgbClr val="FFFFFF"/>
                </a:solidFill>
                <a:latin typeface="Tahoma"/>
                <a:cs typeface="Tahoma"/>
              </a:rPr>
              <a:t>ID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34,198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00732" y="3892042"/>
            <a:ext cx="166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Null</a:t>
            </a:r>
            <a:r>
              <a:rPr sz="2400" b="1" spc="-6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endParaRPr sz="2400" dirty="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76020" y="1474152"/>
            <a:ext cx="2946400" cy="1296670"/>
            <a:chOff x="976020" y="1474152"/>
            <a:chExt cx="2946400" cy="1296670"/>
          </a:xfrm>
        </p:grpSpPr>
        <p:sp>
          <p:nvSpPr>
            <p:cNvPr id="28" name="object 28"/>
            <p:cNvSpPr/>
            <p:nvPr/>
          </p:nvSpPr>
          <p:spPr>
            <a:xfrm>
              <a:off x="983957" y="1482089"/>
              <a:ext cx="2930525" cy="1280795"/>
            </a:xfrm>
            <a:custGeom>
              <a:avLst/>
              <a:gdLst/>
              <a:ahLst/>
              <a:cxnLst/>
              <a:rect l="l" t="t" r="r" b="b"/>
              <a:pathLst>
                <a:path w="2930525" h="1280795">
                  <a:moveTo>
                    <a:pt x="2930055" y="0"/>
                  </a:moveTo>
                  <a:lnTo>
                    <a:pt x="213487" y="0"/>
                  </a:lnTo>
                  <a:lnTo>
                    <a:pt x="164536" y="5634"/>
                  </a:lnTo>
                  <a:lnTo>
                    <a:pt x="119600" y="21685"/>
                  </a:lnTo>
                  <a:lnTo>
                    <a:pt x="79961" y="46876"/>
                  </a:lnTo>
                  <a:lnTo>
                    <a:pt x="46900" y="79929"/>
                  </a:lnTo>
                  <a:lnTo>
                    <a:pt x="21698" y="119566"/>
                  </a:lnTo>
                  <a:lnTo>
                    <a:pt x="5638" y="164512"/>
                  </a:lnTo>
                  <a:lnTo>
                    <a:pt x="0" y="213487"/>
                  </a:lnTo>
                  <a:lnTo>
                    <a:pt x="0" y="1280795"/>
                  </a:lnTo>
                  <a:lnTo>
                    <a:pt x="2716568" y="1280795"/>
                  </a:lnTo>
                  <a:lnTo>
                    <a:pt x="2765503" y="1275160"/>
                  </a:lnTo>
                  <a:lnTo>
                    <a:pt x="2810432" y="1259109"/>
                  </a:lnTo>
                  <a:lnTo>
                    <a:pt x="2850072" y="1233918"/>
                  </a:lnTo>
                  <a:lnTo>
                    <a:pt x="2883138" y="1200865"/>
                  </a:lnTo>
                  <a:lnTo>
                    <a:pt x="2908347" y="1161228"/>
                  </a:lnTo>
                  <a:lnTo>
                    <a:pt x="2924414" y="1116282"/>
                  </a:lnTo>
                  <a:lnTo>
                    <a:pt x="2930055" y="1067308"/>
                  </a:lnTo>
                  <a:lnTo>
                    <a:pt x="2930055" y="0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3957" y="1482089"/>
              <a:ext cx="2930525" cy="1280795"/>
            </a:xfrm>
            <a:custGeom>
              <a:avLst/>
              <a:gdLst/>
              <a:ahLst/>
              <a:cxnLst/>
              <a:rect l="l" t="t" r="r" b="b"/>
              <a:pathLst>
                <a:path w="2930525" h="1280795">
                  <a:moveTo>
                    <a:pt x="213487" y="0"/>
                  </a:moveTo>
                  <a:lnTo>
                    <a:pt x="2930055" y="0"/>
                  </a:lnTo>
                  <a:lnTo>
                    <a:pt x="2930055" y="1067308"/>
                  </a:lnTo>
                  <a:lnTo>
                    <a:pt x="2924414" y="1116282"/>
                  </a:lnTo>
                  <a:lnTo>
                    <a:pt x="2908347" y="1161228"/>
                  </a:lnTo>
                  <a:lnTo>
                    <a:pt x="2883138" y="1200865"/>
                  </a:lnTo>
                  <a:lnTo>
                    <a:pt x="2850072" y="1233918"/>
                  </a:lnTo>
                  <a:lnTo>
                    <a:pt x="2810432" y="1259109"/>
                  </a:lnTo>
                  <a:lnTo>
                    <a:pt x="2765503" y="1275160"/>
                  </a:lnTo>
                  <a:lnTo>
                    <a:pt x="2716568" y="1280795"/>
                  </a:lnTo>
                  <a:lnTo>
                    <a:pt x="0" y="1280795"/>
                  </a:lnTo>
                  <a:lnTo>
                    <a:pt x="0" y="213487"/>
                  </a:lnTo>
                  <a:lnTo>
                    <a:pt x="5638" y="164512"/>
                  </a:lnTo>
                  <a:lnTo>
                    <a:pt x="21698" y="119566"/>
                  </a:lnTo>
                  <a:lnTo>
                    <a:pt x="46900" y="79929"/>
                  </a:lnTo>
                  <a:lnTo>
                    <a:pt x="79961" y="46876"/>
                  </a:lnTo>
                  <a:lnTo>
                    <a:pt x="119600" y="21685"/>
                  </a:lnTo>
                  <a:lnTo>
                    <a:pt x="164536" y="5634"/>
                  </a:lnTo>
                  <a:lnTo>
                    <a:pt x="213487" y="0"/>
                  </a:lnTo>
                  <a:close/>
                </a:path>
              </a:pathLst>
            </a:custGeom>
            <a:ln w="15875">
              <a:solidFill>
                <a:srgbClr val="5D0E5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179372" y="1738376"/>
            <a:ext cx="25380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4275" marR="5080" indent="-117221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Duplicate</a:t>
            </a:r>
            <a:r>
              <a:rPr sz="240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Values </a:t>
            </a:r>
            <a:r>
              <a:rPr sz="2400" b="1" spc="-50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47433" y="3964685"/>
            <a:ext cx="3531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FFFFFF"/>
                </a:solidFill>
                <a:latin typeface="Tahoma"/>
                <a:cs typeface="Tahoma"/>
              </a:rPr>
              <a:t>Abnormal</a:t>
            </a:r>
            <a:r>
              <a:rPr sz="240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ahoma"/>
                <a:cs typeface="Tahoma"/>
              </a:rPr>
              <a:t>Value</a:t>
            </a:r>
            <a:r>
              <a:rPr sz="2400" b="1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400" b="1" spc="-150" dirty="0">
                <a:solidFill>
                  <a:srgbClr val="FFFFFF"/>
                </a:solidFill>
                <a:latin typeface="Tahoma"/>
                <a:cs typeface="Tahoma"/>
              </a:rPr>
              <a:t>(#N/A)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5240" y="318261"/>
            <a:ext cx="27870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none" spc="-130" dirty="0"/>
              <a:t>Assumptions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607433" y="830707"/>
            <a:ext cx="2761615" cy="41275"/>
          </a:xfrm>
          <a:custGeom>
            <a:avLst/>
            <a:gdLst/>
            <a:ahLst/>
            <a:cxnLst/>
            <a:rect l="l" t="t" r="r" b="b"/>
            <a:pathLst>
              <a:path w="2761615" h="41275">
                <a:moveTo>
                  <a:pt x="2761488" y="0"/>
                </a:moveTo>
                <a:lnTo>
                  <a:pt x="0" y="0"/>
                </a:lnTo>
                <a:lnTo>
                  <a:pt x="0" y="41147"/>
                </a:lnTo>
                <a:lnTo>
                  <a:pt x="2761488" y="41147"/>
                </a:lnTo>
                <a:lnTo>
                  <a:pt x="27614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844" y="1916938"/>
            <a:ext cx="5544311" cy="256260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0"/>
            <a:ext cx="11218545" cy="6858000"/>
            <a:chOff x="0" y="0"/>
            <a:chExt cx="11218545" cy="68580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9745" y="4845037"/>
              <a:ext cx="9448419" cy="115559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84" y="33"/>
              <a:ext cx="12149455" cy="68479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62401" y="2645740"/>
            <a:ext cx="5070475" cy="204088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62915">
              <a:lnSpc>
                <a:spcPct val="100299"/>
              </a:lnSpc>
              <a:spcBef>
                <a:spcPts val="75"/>
              </a:spcBef>
            </a:pPr>
            <a:r>
              <a:rPr sz="6600" u="none" spc="-145" dirty="0"/>
              <a:t>Analysis</a:t>
            </a:r>
            <a:r>
              <a:rPr sz="6600" u="none" spc="-290" dirty="0"/>
              <a:t> </a:t>
            </a:r>
            <a:r>
              <a:rPr sz="6600" u="none" spc="-775" dirty="0"/>
              <a:t>&amp; </a:t>
            </a:r>
            <a:r>
              <a:rPr sz="6600" u="none" spc="-220" dirty="0"/>
              <a:t>Visualization</a:t>
            </a:r>
            <a:endParaRPr sz="6600"/>
          </a:p>
        </p:txBody>
      </p:sp>
      <p:grpSp>
        <p:nvGrpSpPr>
          <p:cNvPr id="7" name="object 7"/>
          <p:cNvGrpSpPr/>
          <p:nvPr/>
        </p:nvGrpSpPr>
        <p:grpSpPr>
          <a:xfrm>
            <a:off x="2113269" y="788208"/>
            <a:ext cx="8220075" cy="4431030"/>
            <a:chOff x="2113269" y="788208"/>
            <a:chExt cx="8220075" cy="4431030"/>
          </a:xfrm>
        </p:grpSpPr>
        <p:sp>
          <p:nvSpPr>
            <p:cNvPr id="8" name="object 8"/>
            <p:cNvSpPr/>
            <p:nvPr/>
          </p:nvSpPr>
          <p:spPr>
            <a:xfrm>
              <a:off x="3356584" y="788212"/>
              <a:ext cx="6976745" cy="4431030"/>
            </a:xfrm>
            <a:custGeom>
              <a:avLst/>
              <a:gdLst/>
              <a:ahLst/>
              <a:cxnLst/>
              <a:rect l="l" t="t" r="r" b="b"/>
              <a:pathLst>
                <a:path w="6976745" h="4431030">
                  <a:moveTo>
                    <a:pt x="582676" y="545020"/>
                  </a:moveTo>
                  <a:lnTo>
                    <a:pt x="549973" y="539140"/>
                  </a:lnTo>
                  <a:lnTo>
                    <a:pt x="502158" y="522389"/>
                  </a:lnTo>
                  <a:lnTo>
                    <a:pt x="443865" y="493776"/>
                  </a:lnTo>
                  <a:lnTo>
                    <a:pt x="379780" y="452272"/>
                  </a:lnTo>
                  <a:lnTo>
                    <a:pt x="419646" y="414794"/>
                  </a:lnTo>
                  <a:lnTo>
                    <a:pt x="454710" y="374497"/>
                  </a:lnTo>
                  <a:lnTo>
                    <a:pt x="485368" y="332270"/>
                  </a:lnTo>
                  <a:lnTo>
                    <a:pt x="512051" y="289039"/>
                  </a:lnTo>
                  <a:lnTo>
                    <a:pt x="535152" y="245681"/>
                  </a:lnTo>
                  <a:lnTo>
                    <a:pt x="555091" y="203098"/>
                  </a:lnTo>
                  <a:lnTo>
                    <a:pt x="572274" y="162217"/>
                  </a:lnTo>
                  <a:lnTo>
                    <a:pt x="554799" y="155181"/>
                  </a:lnTo>
                  <a:lnTo>
                    <a:pt x="537819" y="195491"/>
                  </a:lnTo>
                  <a:lnTo>
                    <a:pt x="518109" y="237477"/>
                  </a:lnTo>
                  <a:lnTo>
                    <a:pt x="495261" y="280212"/>
                  </a:lnTo>
                  <a:lnTo>
                    <a:pt x="468858" y="322795"/>
                  </a:lnTo>
                  <a:lnTo>
                    <a:pt x="438480" y="364299"/>
                  </a:lnTo>
                  <a:lnTo>
                    <a:pt x="403733" y="403796"/>
                  </a:lnTo>
                  <a:lnTo>
                    <a:pt x="364197" y="440385"/>
                  </a:lnTo>
                  <a:lnTo>
                    <a:pt x="326682" y="408559"/>
                  </a:lnTo>
                  <a:lnTo>
                    <a:pt x="292049" y="373888"/>
                  </a:lnTo>
                  <a:lnTo>
                    <a:pt x="260477" y="336588"/>
                  </a:lnTo>
                  <a:lnTo>
                    <a:pt x="232079" y="296849"/>
                  </a:lnTo>
                  <a:lnTo>
                    <a:pt x="207022" y="254876"/>
                  </a:lnTo>
                  <a:lnTo>
                    <a:pt x="185445" y="210870"/>
                  </a:lnTo>
                  <a:lnTo>
                    <a:pt x="167487" y="165049"/>
                  </a:lnTo>
                  <a:lnTo>
                    <a:pt x="149682" y="171183"/>
                  </a:lnTo>
                  <a:lnTo>
                    <a:pt x="167982" y="217843"/>
                  </a:lnTo>
                  <a:lnTo>
                    <a:pt x="189928" y="262674"/>
                  </a:lnTo>
                  <a:lnTo>
                    <a:pt x="215392" y="305447"/>
                  </a:lnTo>
                  <a:lnTo>
                    <a:pt x="244233" y="345986"/>
                  </a:lnTo>
                  <a:lnTo>
                    <a:pt x="276288" y="384073"/>
                  </a:lnTo>
                  <a:lnTo>
                    <a:pt x="311429" y="419506"/>
                  </a:lnTo>
                  <a:lnTo>
                    <a:pt x="349504" y="452069"/>
                  </a:lnTo>
                  <a:lnTo>
                    <a:pt x="303263" y="483057"/>
                  </a:lnTo>
                  <a:lnTo>
                    <a:pt x="253809" y="508152"/>
                  </a:lnTo>
                  <a:lnTo>
                    <a:pt x="201714" y="527138"/>
                  </a:lnTo>
                  <a:lnTo>
                    <a:pt x="147510" y="539762"/>
                  </a:lnTo>
                  <a:lnTo>
                    <a:pt x="150825" y="558304"/>
                  </a:lnTo>
                  <a:lnTo>
                    <a:pt x="197091" y="548106"/>
                  </a:lnTo>
                  <a:lnTo>
                    <a:pt x="241973" y="533450"/>
                  </a:lnTo>
                  <a:lnTo>
                    <a:pt x="285153" y="514477"/>
                  </a:lnTo>
                  <a:lnTo>
                    <a:pt x="326301" y="491324"/>
                  </a:lnTo>
                  <a:lnTo>
                    <a:pt x="365125" y="464134"/>
                  </a:lnTo>
                  <a:lnTo>
                    <a:pt x="420090" y="501015"/>
                  </a:lnTo>
                  <a:lnTo>
                    <a:pt x="471906" y="528853"/>
                  </a:lnTo>
                  <a:lnTo>
                    <a:pt x="517931" y="548233"/>
                  </a:lnTo>
                  <a:lnTo>
                    <a:pt x="555523" y="559714"/>
                  </a:lnTo>
                  <a:lnTo>
                    <a:pt x="582053" y="563867"/>
                  </a:lnTo>
                  <a:lnTo>
                    <a:pt x="582676" y="545020"/>
                  </a:lnTo>
                  <a:close/>
                </a:path>
                <a:path w="6976745" h="4431030">
                  <a:moveTo>
                    <a:pt x="746544" y="79400"/>
                  </a:moveTo>
                  <a:lnTo>
                    <a:pt x="703364" y="36195"/>
                  </a:lnTo>
                  <a:lnTo>
                    <a:pt x="667194" y="0"/>
                  </a:lnTo>
                  <a:lnTo>
                    <a:pt x="587857" y="79400"/>
                  </a:lnTo>
                  <a:lnTo>
                    <a:pt x="601192" y="92735"/>
                  </a:lnTo>
                  <a:lnTo>
                    <a:pt x="657542" y="36347"/>
                  </a:lnTo>
                  <a:lnTo>
                    <a:pt x="657682" y="36347"/>
                  </a:lnTo>
                  <a:lnTo>
                    <a:pt x="657707" y="658088"/>
                  </a:lnTo>
                  <a:lnTo>
                    <a:pt x="36156" y="658088"/>
                  </a:lnTo>
                  <a:lnTo>
                    <a:pt x="36080" y="657948"/>
                  </a:lnTo>
                  <a:lnTo>
                    <a:pt x="92532" y="601459"/>
                  </a:lnTo>
                  <a:lnTo>
                    <a:pt x="79209" y="588124"/>
                  </a:lnTo>
                  <a:lnTo>
                    <a:pt x="0" y="667423"/>
                  </a:lnTo>
                  <a:lnTo>
                    <a:pt x="79336" y="746810"/>
                  </a:lnTo>
                  <a:lnTo>
                    <a:pt x="92646" y="733475"/>
                  </a:lnTo>
                  <a:lnTo>
                    <a:pt x="36601" y="677087"/>
                  </a:lnTo>
                  <a:lnTo>
                    <a:pt x="36614" y="676948"/>
                  </a:lnTo>
                  <a:lnTo>
                    <a:pt x="676541" y="676948"/>
                  </a:lnTo>
                  <a:lnTo>
                    <a:pt x="676541" y="658088"/>
                  </a:lnTo>
                  <a:lnTo>
                    <a:pt x="676541" y="36347"/>
                  </a:lnTo>
                  <a:lnTo>
                    <a:pt x="676541" y="36195"/>
                  </a:lnTo>
                  <a:lnTo>
                    <a:pt x="676706" y="36195"/>
                  </a:lnTo>
                  <a:lnTo>
                    <a:pt x="733107" y="92646"/>
                  </a:lnTo>
                  <a:lnTo>
                    <a:pt x="746353" y="79400"/>
                  </a:lnTo>
                  <a:lnTo>
                    <a:pt x="746544" y="79400"/>
                  </a:lnTo>
                  <a:close/>
                </a:path>
                <a:path w="6976745" h="4431030">
                  <a:moveTo>
                    <a:pt x="3392322" y="900874"/>
                  </a:moveTo>
                  <a:lnTo>
                    <a:pt x="3391382" y="900874"/>
                  </a:lnTo>
                  <a:lnTo>
                    <a:pt x="3337699" y="900874"/>
                  </a:lnTo>
                  <a:lnTo>
                    <a:pt x="3332988" y="901814"/>
                  </a:lnTo>
                  <a:lnTo>
                    <a:pt x="3328276" y="904646"/>
                  </a:lnTo>
                  <a:lnTo>
                    <a:pt x="3325457" y="908418"/>
                  </a:lnTo>
                  <a:lnTo>
                    <a:pt x="3289668" y="947039"/>
                  </a:lnTo>
                  <a:lnTo>
                    <a:pt x="3259531" y="842454"/>
                  </a:lnTo>
                  <a:lnTo>
                    <a:pt x="3256292" y="836714"/>
                  </a:lnTo>
                  <a:lnTo>
                    <a:pt x="3251289" y="832561"/>
                  </a:lnTo>
                  <a:lnTo>
                    <a:pt x="3245231" y="830529"/>
                  </a:lnTo>
                  <a:lnTo>
                    <a:pt x="3238817" y="831151"/>
                  </a:lnTo>
                  <a:lnTo>
                    <a:pt x="3234105" y="833031"/>
                  </a:lnTo>
                  <a:lnTo>
                    <a:pt x="3229394" y="835863"/>
                  </a:lnTo>
                  <a:lnTo>
                    <a:pt x="3171012" y="991336"/>
                  </a:lnTo>
                  <a:lnTo>
                    <a:pt x="3130512" y="774611"/>
                  </a:lnTo>
                  <a:lnTo>
                    <a:pt x="3122041" y="768959"/>
                  </a:lnTo>
                  <a:lnTo>
                    <a:pt x="3107918" y="771779"/>
                  </a:lnTo>
                  <a:lnTo>
                    <a:pt x="3103207" y="776490"/>
                  </a:lnTo>
                  <a:lnTo>
                    <a:pt x="3100374" y="782154"/>
                  </a:lnTo>
                  <a:lnTo>
                    <a:pt x="3059887" y="900874"/>
                  </a:lnTo>
                  <a:lnTo>
                    <a:pt x="2986430" y="900874"/>
                  </a:lnTo>
                  <a:lnTo>
                    <a:pt x="2986430" y="938568"/>
                  </a:lnTo>
                  <a:lnTo>
                    <a:pt x="3072130" y="938568"/>
                  </a:lnTo>
                  <a:lnTo>
                    <a:pt x="3079661" y="937628"/>
                  </a:lnTo>
                  <a:lnTo>
                    <a:pt x="3086252" y="931964"/>
                  </a:lnTo>
                  <a:lnTo>
                    <a:pt x="3088132" y="924433"/>
                  </a:lnTo>
                  <a:lnTo>
                    <a:pt x="3111677" y="852817"/>
                  </a:lnTo>
                  <a:lnTo>
                    <a:pt x="3149346" y="1055408"/>
                  </a:lnTo>
                  <a:lnTo>
                    <a:pt x="3150298" y="1062939"/>
                  </a:lnTo>
                  <a:lnTo>
                    <a:pt x="3156889" y="1068590"/>
                  </a:lnTo>
                  <a:lnTo>
                    <a:pt x="3172891" y="1068590"/>
                  </a:lnTo>
                  <a:lnTo>
                    <a:pt x="3179483" y="1064831"/>
                  </a:lnTo>
                  <a:lnTo>
                    <a:pt x="3242576" y="899934"/>
                  </a:lnTo>
                  <a:lnTo>
                    <a:pt x="3267062" y="984732"/>
                  </a:lnTo>
                  <a:lnTo>
                    <a:pt x="3270173" y="990473"/>
                  </a:lnTo>
                  <a:lnTo>
                    <a:pt x="3274949" y="994625"/>
                  </a:lnTo>
                  <a:lnTo>
                    <a:pt x="3280968" y="996657"/>
                  </a:lnTo>
                  <a:lnTo>
                    <a:pt x="3287788" y="996048"/>
                  </a:lnTo>
                  <a:lnTo>
                    <a:pt x="3290608" y="995095"/>
                  </a:lnTo>
                  <a:lnTo>
                    <a:pt x="3295319" y="991336"/>
                  </a:lnTo>
                  <a:lnTo>
                    <a:pt x="3346170" y="938568"/>
                  </a:lnTo>
                  <a:lnTo>
                    <a:pt x="3392322" y="938568"/>
                  </a:lnTo>
                  <a:lnTo>
                    <a:pt x="3392322" y="900874"/>
                  </a:lnTo>
                  <a:close/>
                </a:path>
                <a:path w="6976745" h="4431030">
                  <a:moveTo>
                    <a:pt x="3649649" y="1311224"/>
                  </a:moveTo>
                  <a:lnTo>
                    <a:pt x="3644887" y="1286319"/>
                  </a:lnTo>
                  <a:lnTo>
                    <a:pt x="3630574" y="1264589"/>
                  </a:lnTo>
                  <a:lnTo>
                    <a:pt x="3513810" y="1146810"/>
                  </a:lnTo>
                  <a:lnTo>
                    <a:pt x="3504158" y="1139266"/>
                  </a:lnTo>
                  <a:lnTo>
                    <a:pt x="3501237" y="1136980"/>
                  </a:lnTo>
                  <a:lnTo>
                    <a:pt x="3486734" y="1130427"/>
                  </a:lnTo>
                  <a:lnTo>
                    <a:pt x="3478339" y="1128903"/>
                  </a:lnTo>
                  <a:lnTo>
                    <a:pt x="3471164" y="1127594"/>
                  </a:lnTo>
                  <a:lnTo>
                    <a:pt x="3455416" y="1128903"/>
                  </a:lnTo>
                  <a:lnTo>
                    <a:pt x="3413036" y="1087437"/>
                  </a:lnTo>
                  <a:lnTo>
                    <a:pt x="3438055" y="1048715"/>
                  </a:lnTo>
                  <a:lnTo>
                    <a:pt x="3456355" y="1006640"/>
                  </a:lnTo>
                  <a:lnTo>
                    <a:pt x="3467595" y="962088"/>
                  </a:lnTo>
                  <a:lnTo>
                    <a:pt x="3471430" y="915949"/>
                  </a:lnTo>
                  <a:lnTo>
                    <a:pt x="3467963" y="869746"/>
                  </a:lnTo>
                  <a:lnTo>
                    <a:pt x="3457410" y="825919"/>
                  </a:lnTo>
                  <a:lnTo>
                    <a:pt x="3440366" y="785063"/>
                  </a:lnTo>
                  <a:lnTo>
                    <a:pt x="3417405" y="747750"/>
                  </a:lnTo>
                  <a:lnTo>
                    <a:pt x="3414826" y="744728"/>
                  </a:lnTo>
                  <a:lnTo>
                    <a:pt x="3414826" y="915949"/>
                  </a:lnTo>
                  <a:lnTo>
                    <a:pt x="3410305" y="960437"/>
                  </a:lnTo>
                  <a:lnTo>
                    <a:pt x="3397085" y="1002817"/>
                  </a:lnTo>
                  <a:lnTo>
                    <a:pt x="3376180" y="1041222"/>
                  </a:lnTo>
                  <a:lnTo>
                    <a:pt x="3348532" y="1074724"/>
                  </a:lnTo>
                  <a:lnTo>
                    <a:pt x="3315043" y="1102398"/>
                  </a:lnTo>
                  <a:lnTo>
                    <a:pt x="3276663" y="1123302"/>
                  </a:lnTo>
                  <a:lnTo>
                    <a:pt x="3234182" y="1136573"/>
                  </a:lnTo>
                  <a:lnTo>
                    <a:pt x="3233928" y="1136573"/>
                  </a:lnTo>
                  <a:lnTo>
                    <a:pt x="3188906" y="1141145"/>
                  </a:lnTo>
                  <a:lnTo>
                    <a:pt x="3143237" y="1136573"/>
                  </a:lnTo>
                  <a:lnTo>
                    <a:pt x="3100743" y="1123442"/>
                  </a:lnTo>
                  <a:lnTo>
                    <a:pt x="3062351" y="1102639"/>
                  </a:lnTo>
                  <a:lnTo>
                    <a:pt x="3028924" y="1075080"/>
                  </a:lnTo>
                  <a:lnTo>
                    <a:pt x="3001378" y="1041628"/>
                  </a:lnTo>
                  <a:lnTo>
                    <a:pt x="2980588" y="1003211"/>
                  </a:lnTo>
                  <a:lnTo>
                    <a:pt x="2967456" y="960704"/>
                  </a:lnTo>
                  <a:lnTo>
                    <a:pt x="2962986" y="915949"/>
                  </a:lnTo>
                  <a:lnTo>
                    <a:pt x="2962884" y="915009"/>
                  </a:lnTo>
                  <a:lnTo>
                    <a:pt x="2967418" y="869746"/>
                  </a:lnTo>
                  <a:lnTo>
                    <a:pt x="2967456" y="869315"/>
                  </a:lnTo>
                  <a:lnTo>
                    <a:pt x="2980588" y="826808"/>
                  </a:lnTo>
                  <a:lnTo>
                    <a:pt x="3001378" y="788377"/>
                  </a:lnTo>
                  <a:lnTo>
                    <a:pt x="3028924" y="754938"/>
                  </a:lnTo>
                  <a:lnTo>
                    <a:pt x="3062351" y="727379"/>
                  </a:lnTo>
                  <a:lnTo>
                    <a:pt x="3100743" y="706577"/>
                  </a:lnTo>
                  <a:lnTo>
                    <a:pt x="3143237" y="693445"/>
                  </a:lnTo>
                  <a:lnTo>
                    <a:pt x="3188906" y="688860"/>
                  </a:lnTo>
                  <a:lnTo>
                    <a:pt x="3234575" y="693445"/>
                  </a:lnTo>
                  <a:lnTo>
                    <a:pt x="3277057" y="706577"/>
                  </a:lnTo>
                  <a:lnTo>
                    <a:pt x="3315462" y="727379"/>
                  </a:lnTo>
                  <a:lnTo>
                    <a:pt x="3348875" y="754938"/>
                  </a:lnTo>
                  <a:lnTo>
                    <a:pt x="3376434" y="788377"/>
                  </a:lnTo>
                  <a:lnTo>
                    <a:pt x="3397224" y="826808"/>
                  </a:lnTo>
                  <a:lnTo>
                    <a:pt x="3410343" y="869315"/>
                  </a:lnTo>
                  <a:lnTo>
                    <a:pt x="3414738" y="913130"/>
                  </a:lnTo>
                  <a:lnTo>
                    <a:pt x="3414826" y="915949"/>
                  </a:lnTo>
                  <a:lnTo>
                    <a:pt x="3414826" y="744728"/>
                  </a:lnTo>
                  <a:lnTo>
                    <a:pt x="3389147" y="714540"/>
                  </a:lnTo>
                  <a:lnTo>
                    <a:pt x="3359429" y="688860"/>
                  </a:lnTo>
                  <a:lnTo>
                    <a:pt x="3356152" y="686028"/>
                  </a:lnTo>
                  <a:lnTo>
                    <a:pt x="3319043" y="662787"/>
                  </a:lnTo>
                  <a:lnTo>
                    <a:pt x="3278403" y="645388"/>
                  </a:lnTo>
                  <a:lnTo>
                    <a:pt x="3234829" y="634415"/>
                  </a:lnTo>
                  <a:lnTo>
                    <a:pt x="3188906" y="630440"/>
                  </a:lnTo>
                  <a:lnTo>
                    <a:pt x="3142983" y="633907"/>
                  </a:lnTo>
                  <a:lnTo>
                    <a:pt x="3099384" y="644461"/>
                  </a:lnTo>
                  <a:lnTo>
                    <a:pt x="3058706" y="661530"/>
                  </a:lnTo>
                  <a:lnTo>
                    <a:pt x="3021533" y="684491"/>
                  </a:lnTo>
                  <a:lnTo>
                    <a:pt x="2988424" y="712774"/>
                  </a:lnTo>
                  <a:lnTo>
                    <a:pt x="2959989" y="745782"/>
                  </a:lnTo>
                  <a:lnTo>
                    <a:pt x="2936798" y="782904"/>
                  </a:lnTo>
                  <a:lnTo>
                    <a:pt x="2919425" y="823569"/>
                  </a:lnTo>
                  <a:lnTo>
                    <a:pt x="2908465" y="867168"/>
                  </a:lnTo>
                  <a:lnTo>
                    <a:pt x="2904502" y="913117"/>
                  </a:lnTo>
                  <a:lnTo>
                    <a:pt x="2907957" y="959078"/>
                  </a:lnTo>
                  <a:lnTo>
                    <a:pt x="2918561" y="1002817"/>
                  </a:lnTo>
                  <a:lnTo>
                    <a:pt x="2935567" y="1043393"/>
                  </a:lnTo>
                  <a:lnTo>
                    <a:pt x="2958515" y="1080592"/>
                  </a:lnTo>
                  <a:lnTo>
                    <a:pt x="2986786" y="1113701"/>
                  </a:lnTo>
                  <a:lnTo>
                    <a:pt x="3019768" y="1142161"/>
                  </a:lnTo>
                  <a:lnTo>
                    <a:pt x="3056877" y="1165364"/>
                  </a:lnTo>
                  <a:lnTo>
                    <a:pt x="3097517" y="1182751"/>
                  </a:lnTo>
                  <a:lnTo>
                    <a:pt x="3141091" y="1193711"/>
                  </a:lnTo>
                  <a:lnTo>
                    <a:pt x="3187014" y="1197686"/>
                  </a:lnTo>
                  <a:lnTo>
                    <a:pt x="3233293" y="1193863"/>
                  </a:lnTo>
                  <a:lnTo>
                    <a:pt x="3278251" y="1182611"/>
                  </a:lnTo>
                  <a:lnTo>
                    <a:pt x="3320910" y="1164297"/>
                  </a:lnTo>
                  <a:lnTo>
                    <a:pt x="3357334" y="1141145"/>
                  </a:lnTo>
                  <a:lnTo>
                    <a:pt x="3360305" y="1139266"/>
                  </a:lnTo>
                  <a:lnTo>
                    <a:pt x="3401733" y="1180719"/>
                  </a:lnTo>
                  <a:lnTo>
                    <a:pt x="3400818" y="1196886"/>
                  </a:lnTo>
                  <a:lnTo>
                    <a:pt x="3403625" y="1212532"/>
                  </a:lnTo>
                  <a:lnTo>
                    <a:pt x="3537343" y="1357871"/>
                  </a:lnTo>
                  <a:lnTo>
                    <a:pt x="3583965" y="1376946"/>
                  </a:lnTo>
                  <a:lnTo>
                    <a:pt x="3608857" y="1372184"/>
                  </a:lnTo>
                  <a:lnTo>
                    <a:pt x="3630574" y="1357871"/>
                  </a:lnTo>
                  <a:lnTo>
                    <a:pt x="3644887" y="1336141"/>
                  </a:lnTo>
                  <a:lnTo>
                    <a:pt x="3649649" y="1311224"/>
                  </a:lnTo>
                  <a:close/>
                </a:path>
                <a:path w="6976745" h="4431030">
                  <a:moveTo>
                    <a:pt x="6505816" y="240182"/>
                  </a:moveTo>
                  <a:lnTo>
                    <a:pt x="6500660" y="214503"/>
                  </a:lnTo>
                  <a:lnTo>
                    <a:pt x="6486550" y="193535"/>
                  </a:lnTo>
                  <a:lnTo>
                    <a:pt x="6465608" y="179374"/>
                  </a:lnTo>
                  <a:lnTo>
                    <a:pt x="6439954" y="174142"/>
                  </a:lnTo>
                  <a:lnTo>
                    <a:pt x="6414033" y="179374"/>
                  </a:lnTo>
                  <a:lnTo>
                    <a:pt x="6414211" y="179374"/>
                  </a:lnTo>
                  <a:lnTo>
                    <a:pt x="6393269" y="193535"/>
                  </a:lnTo>
                  <a:lnTo>
                    <a:pt x="6379159" y="214503"/>
                  </a:lnTo>
                  <a:lnTo>
                    <a:pt x="6373990" y="240182"/>
                  </a:lnTo>
                  <a:lnTo>
                    <a:pt x="6376009" y="256425"/>
                  </a:lnTo>
                  <a:lnTo>
                    <a:pt x="6381928" y="271538"/>
                  </a:lnTo>
                  <a:lnTo>
                    <a:pt x="6391351" y="284759"/>
                  </a:lnTo>
                  <a:lnTo>
                    <a:pt x="6403924" y="295402"/>
                  </a:lnTo>
                  <a:lnTo>
                    <a:pt x="6355143" y="438061"/>
                  </a:lnTo>
                  <a:lnTo>
                    <a:pt x="6345123" y="438810"/>
                  </a:lnTo>
                  <a:lnTo>
                    <a:pt x="6335395" y="441058"/>
                  </a:lnTo>
                  <a:lnTo>
                    <a:pt x="6326124" y="444754"/>
                  </a:lnTo>
                  <a:lnTo>
                    <a:pt x="6317462" y="449834"/>
                  </a:lnTo>
                  <a:lnTo>
                    <a:pt x="6259334" y="406209"/>
                  </a:lnTo>
                  <a:lnTo>
                    <a:pt x="6219152" y="376059"/>
                  </a:lnTo>
                  <a:lnTo>
                    <a:pt x="6223178" y="350177"/>
                  </a:lnTo>
                  <a:lnTo>
                    <a:pt x="6217183" y="325615"/>
                  </a:lnTo>
                  <a:lnTo>
                    <a:pt x="6202413" y="305092"/>
                  </a:lnTo>
                  <a:lnTo>
                    <a:pt x="6180137" y="291338"/>
                  </a:lnTo>
                  <a:lnTo>
                    <a:pt x="6154267" y="287312"/>
                  </a:lnTo>
                  <a:lnTo>
                    <a:pt x="6129718" y="293306"/>
                  </a:lnTo>
                  <a:lnTo>
                    <a:pt x="6109208" y="308089"/>
                  </a:lnTo>
                  <a:lnTo>
                    <a:pt x="6095466" y="330377"/>
                  </a:lnTo>
                  <a:lnTo>
                    <a:pt x="6091390" y="352132"/>
                  </a:lnTo>
                  <a:lnTo>
                    <a:pt x="6094565" y="373456"/>
                  </a:lnTo>
                  <a:lnTo>
                    <a:pt x="6104445" y="392633"/>
                  </a:lnTo>
                  <a:lnTo>
                    <a:pt x="6120460" y="407911"/>
                  </a:lnTo>
                  <a:lnTo>
                    <a:pt x="6057646" y="607669"/>
                  </a:lnTo>
                  <a:lnTo>
                    <a:pt x="6053785" y="607669"/>
                  </a:lnTo>
                  <a:lnTo>
                    <a:pt x="6028106" y="612787"/>
                  </a:lnTo>
                  <a:lnTo>
                    <a:pt x="6007125" y="626872"/>
                  </a:lnTo>
                  <a:lnTo>
                    <a:pt x="5992939" y="647801"/>
                  </a:lnTo>
                  <a:lnTo>
                    <a:pt x="5987707" y="673468"/>
                  </a:lnTo>
                  <a:lnTo>
                    <a:pt x="5992825" y="699147"/>
                  </a:lnTo>
                  <a:lnTo>
                    <a:pt x="6006897" y="720153"/>
                  </a:lnTo>
                  <a:lnTo>
                    <a:pt x="6028004" y="734453"/>
                  </a:lnTo>
                  <a:lnTo>
                    <a:pt x="6028410" y="734453"/>
                  </a:lnTo>
                  <a:lnTo>
                    <a:pt x="6053467" y="739584"/>
                  </a:lnTo>
                  <a:lnTo>
                    <a:pt x="6079134" y="734453"/>
                  </a:lnTo>
                  <a:lnTo>
                    <a:pt x="6100127" y="720369"/>
                  </a:lnTo>
                  <a:lnTo>
                    <a:pt x="6114300" y="699439"/>
                  </a:lnTo>
                  <a:lnTo>
                    <a:pt x="6119546" y="673773"/>
                  </a:lnTo>
                  <a:lnTo>
                    <a:pt x="6117780" y="658444"/>
                  </a:lnTo>
                  <a:lnTo>
                    <a:pt x="6112586" y="644131"/>
                  </a:lnTo>
                  <a:lnTo>
                    <a:pt x="6104255" y="631380"/>
                  </a:lnTo>
                  <a:lnTo>
                    <a:pt x="6093053" y="620763"/>
                  </a:lnTo>
                  <a:lnTo>
                    <a:pt x="6156426" y="419214"/>
                  </a:lnTo>
                  <a:lnTo>
                    <a:pt x="6157366" y="419214"/>
                  </a:lnTo>
                  <a:lnTo>
                    <a:pt x="6167856" y="418350"/>
                  </a:lnTo>
                  <a:lnTo>
                    <a:pt x="6178004" y="415861"/>
                  </a:lnTo>
                  <a:lnTo>
                    <a:pt x="6187630" y="411784"/>
                  </a:lnTo>
                  <a:lnTo>
                    <a:pt x="6196546" y="406209"/>
                  </a:lnTo>
                  <a:lnTo>
                    <a:pt x="6294018" y="479234"/>
                  </a:lnTo>
                  <a:lnTo>
                    <a:pt x="6290881" y="487121"/>
                  </a:lnTo>
                  <a:lnTo>
                    <a:pt x="6289256" y="495528"/>
                  </a:lnTo>
                  <a:lnTo>
                    <a:pt x="6289230" y="504075"/>
                  </a:lnTo>
                  <a:lnTo>
                    <a:pt x="6294425" y="529742"/>
                  </a:lnTo>
                  <a:lnTo>
                    <a:pt x="6308560" y="550697"/>
                  </a:lnTo>
                  <a:lnTo>
                    <a:pt x="6329566" y="564819"/>
                  </a:lnTo>
                  <a:lnTo>
                    <a:pt x="6355118" y="570001"/>
                  </a:lnTo>
                  <a:lnTo>
                    <a:pt x="6380772" y="564819"/>
                  </a:lnTo>
                  <a:lnTo>
                    <a:pt x="6401727" y="550697"/>
                  </a:lnTo>
                  <a:lnTo>
                    <a:pt x="6415862" y="529742"/>
                  </a:lnTo>
                  <a:lnTo>
                    <a:pt x="6421056" y="504075"/>
                  </a:lnTo>
                  <a:lnTo>
                    <a:pt x="6419024" y="487781"/>
                  </a:lnTo>
                  <a:lnTo>
                    <a:pt x="6413144" y="472719"/>
                  </a:lnTo>
                  <a:lnTo>
                    <a:pt x="6403784" y="459536"/>
                  </a:lnTo>
                  <a:lnTo>
                    <a:pt x="6392405" y="449834"/>
                  </a:lnTo>
                  <a:lnTo>
                    <a:pt x="6391300" y="448894"/>
                  </a:lnTo>
                  <a:lnTo>
                    <a:pt x="6439890" y="306146"/>
                  </a:lnTo>
                  <a:lnTo>
                    <a:pt x="6465557" y="300951"/>
                  </a:lnTo>
                  <a:lnTo>
                    <a:pt x="6486512" y="286816"/>
                  </a:lnTo>
                  <a:lnTo>
                    <a:pt x="6500635" y="265861"/>
                  </a:lnTo>
                  <a:lnTo>
                    <a:pt x="6505816" y="240182"/>
                  </a:lnTo>
                  <a:close/>
                </a:path>
                <a:path w="6976745" h="4431030">
                  <a:moveTo>
                    <a:pt x="6534074" y="777786"/>
                  </a:moveTo>
                  <a:lnTo>
                    <a:pt x="5940768" y="777786"/>
                  </a:lnTo>
                  <a:lnTo>
                    <a:pt x="5940768" y="174371"/>
                  </a:lnTo>
                  <a:lnTo>
                    <a:pt x="5884265" y="174371"/>
                  </a:lnTo>
                  <a:lnTo>
                    <a:pt x="5884265" y="777786"/>
                  </a:lnTo>
                  <a:lnTo>
                    <a:pt x="5884265" y="833678"/>
                  </a:lnTo>
                  <a:lnTo>
                    <a:pt x="6534074" y="833678"/>
                  </a:lnTo>
                  <a:lnTo>
                    <a:pt x="6534074" y="777786"/>
                  </a:lnTo>
                  <a:close/>
                </a:path>
                <a:path w="6976745" h="4431030">
                  <a:moveTo>
                    <a:pt x="6854711" y="3998836"/>
                  </a:moveTo>
                  <a:lnTo>
                    <a:pt x="6849618" y="3954538"/>
                  </a:lnTo>
                  <a:lnTo>
                    <a:pt x="6835089" y="3913886"/>
                  </a:lnTo>
                  <a:lnTo>
                    <a:pt x="6812305" y="3878021"/>
                  </a:lnTo>
                  <a:lnTo>
                    <a:pt x="6782409" y="3848112"/>
                  </a:lnTo>
                  <a:lnTo>
                    <a:pt x="6746557" y="3825303"/>
                  </a:lnTo>
                  <a:lnTo>
                    <a:pt x="6705930" y="3810774"/>
                  </a:lnTo>
                  <a:lnTo>
                    <a:pt x="6661658" y="3805669"/>
                  </a:lnTo>
                  <a:lnTo>
                    <a:pt x="6617398" y="3810774"/>
                  </a:lnTo>
                  <a:lnTo>
                    <a:pt x="6576758" y="3825303"/>
                  </a:lnTo>
                  <a:lnTo>
                    <a:pt x="6540906" y="3848112"/>
                  </a:lnTo>
                  <a:lnTo>
                    <a:pt x="6511010" y="3878021"/>
                  </a:lnTo>
                  <a:lnTo>
                    <a:pt x="6488227" y="3913886"/>
                  </a:lnTo>
                  <a:lnTo>
                    <a:pt x="6473698" y="3954538"/>
                  </a:lnTo>
                  <a:lnTo>
                    <a:pt x="6468605" y="3998836"/>
                  </a:lnTo>
                  <a:lnTo>
                    <a:pt x="6469964" y="4020070"/>
                  </a:lnTo>
                  <a:lnTo>
                    <a:pt x="6470955" y="4027106"/>
                  </a:lnTo>
                  <a:lnTo>
                    <a:pt x="6519900" y="4016984"/>
                  </a:lnTo>
                  <a:lnTo>
                    <a:pt x="6569240" y="4018038"/>
                  </a:lnTo>
                  <a:lnTo>
                    <a:pt x="6617132" y="4030040"/>
                  </a:lnTo>
                  <a:lnTo>
                    <a:pt x="6661658" y="4052735"/>
                  </a:lnTo>
                  <a:lnTo>
                    <a:pt x="6706197" y="4030040"/>
                  </a:lnTo>
                  <a:lnTo>
                    <a:pt x="6754076" y="4018038"/>
                  </a:lnTo>
                  <a:lnTo>
                    <a:pt x="6803428" y="4016984"/>
                  </a:lnTo>
                  <a:lnTo>
                    <a:pt x="6852361" y="4027106"/>
                  </a:lnTo>
                  <a:lnTo>
                    <a:pt x="6854533" y="4005935"/>
                  </a:lnTo>
                  <a:lnTo>
                    <a:pt x="6854711" y="3998836"/>
                  </a:lnTo>
                  <a:close/>
                </a:path>
                <a:path w="6976745" h="4431030">
                  <a:moveTo>
                    <a:pt x="6976554" y="4237494"/>
                  </a:moveTo>
                  <a:lnTo>
                    <a:pt x="6969290" y="4184942"/>
                  </a:lnTo>
                  <a:lnTo>
                    <a:pt x="6948500" y="4137152"/>
                  </a:lnTo>
                  <a:lnTo>
                    <a:pt x="6915696" y="4096677"/>
                  </a:lnTo>
                  <a:lnTo>
                    <a:pt x="6872414" y="4066019"/>
                  </a:lnTo>
                  <a:lnTo>
                    <a:pt x="6872414" y="4066209"/>
                  </a:lnTo>
                  <a:lnTo>
                    <a:pt x="6854291" y="4107484"/>
                  </a:lnTo>
                  <a:lnTo>
                    <a:pt x="6828523" y="4143921"/>
                  </a:lnTo>
                  <a:lnTo>
                    <a:pt x="6795998" y="4174477"/>
                  </a:lnTo>
                  <a:lnTo>
                    <a:pt x="6757619" y="4198124"/>
                  </a:lnTo>
                  <a:lnTo>
                    <a:pt x="6760223" y="4217644"/>
                  </a:lnTo>
                  <a:lnTo>
                    <a:pt x="6756070" y="4284256"/>
                  </a:lnTo>
                  <a:lnTo>
                    <a:pt x="6741401" y="4328579"/>
                  </a:lnTo>
                  <a:lnTo>
                    <a:pt x="6717741" y="4368825"/>
                  </a:lnTo>
                  <a:lnTo>
                    <a:pt x="6685762" y="4403534"/>
                  </a:lnTo>
                  <a:lnTo>
                    <a:pt x="6708673" y="4415193"/>
                  </a:lnTo>
                  <a:lnTo>
                    <a:pt x="6732816" y="4423626"/>
                  </a:lnTo>
                  <a:lnTo>
                    <a:pt x="6757886" y="4428756"/>
                  </a:lnTo>
                  <a:lnTo>
                    <a:pt x="6783514" y="4430484"/>
                  </a:lnTo>
                  <a:lnTo>
                    <a:pt x="6827774" y="4425404"/>
                  </a:lnTo>
                  <a:lnTo>
                    <a:pt x="6868388" y="4410888"/>
                  </a:lnTo>
                  <a:lnTo>
                    <a:pt x="6904228" y="4388116"/>
                  </a:lnTo>
                  <a:lnTo>
                    <a:pt x="6934124" y="4358221"/>
                  </a:lnTo>
                  <a:lnTo>
                    <a:pt x="6956907" y="4322394"/>
                  </a:lnTo>
                  <a:lnTo>
                    <a:pt x="6971436" y="4281754"/>
                  </a:lnTo>
                  <a:lnTo>
                    <a:pt x="6976554" y="42374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955435" y="4875707"/>
              <a:ext cx="125628" cy="1048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703359" y="4854600"/>
              <a:ext cx="290830" cy="364490"/>
            </a:xfrm>
            <a:custGeom>
              <a:avLst/>
              <a:gdLst/>
              <a:ahLst/>
              <a:cxnLst/>
              <a:rect l="l" t="t" r="r" b="b"/>
              <a:pathLst>
                <a:path w="290829" h="364489">
                  <a:moveTo>
                    <a:pt x="104128" y="0"/>
                  </a:moveTo>
                  <a:lnTo>
                    <a:pt x="67196" y="24904"/>
                  </a:lnTo>
                  <a:lnTo>
                    <a:pt x="37822" y="56505"/>
                  </a:lnTo>
                  <a:lnTo>
                    <a:pt x="16501" y="93240"/>
                  </a:lnTo>
                  <a:lnTo>
                    <a:pt x="3728" y="133546"/>
                  </a:lnTo>
                  <a:lnTo>
                    <a:pt x="0" y="175862"/>
                  </a:lnTo>
                  <a:lnTo>
                    <a:pt x="5810" y="218626"/>
                  </a:lnTo>
                  <a:lnTo>
                    <a:pt x="21655" y="260275"/>
                  </a:lnTo>
                  <a:lnTo>
                    <a:pt x="52293" y="303574"/>
                  </a:lnTo>
                  <a:lnTo>
                    <a:pt x="92751" y="336395"/>
                  </a:lnTo>
                  <a:lnTo>
                    <a:pt x="140504" y="357204"/>
                  </a:lnTo>
                  <a:lnTo>
                    <a:pt x="193029" y="364277"/>
                  </a:lnTo>
                  <a:lnTo>
                    <a:pt x="218667" y="362547"/>
                  </a:lnTo>
                  <a:lnTo>
                    <a:pt x="243729" y="357419"/>
                  </a:lnTo>
                  <a:lnTo>
                    <a:pt x="267879" y="348982"/>
                  </a:lnTo>
                  <a:lnTo>
                    <a:pt x="290781" y="337328"/>
                  </a:lnTo>
                  <a:lnTo>
                    <a:pt x="258806" y="302616"/>
                  </a:lnTo>
                  <a:lnTo>
                    <a:pt x="235151" y="262371"/>
                  </a:lnTo>
                  <a:lnTo>
                    <a:pt x="220476" y="218051"/>
                  </a:lnTo>
                  <a:lnTo>
                    <a:pt x="215442" y="171114"/>
                  </a:lnTo>
                  <a:lnTo>
                    <a:pt x="216322" y="151438"/>
                  </a:lnTo>
                  <a:lnTo>
                    <a:pt x="218926" y="131916"/>
                  </a:lnTo>
                  <a:lnTo>
                    <a:pt x="180554" y="108276"/>
                  </a:lnTo>
                  <a:lnTo>
                    <a:pt x="148028" y="77718"/>
                  </a:lnTo>
                  <a:lnTo>
                    <a:pt x="122252" y="41280"/>
                  </a:lnTo>
                  <a:lnTo>
                    <a:pt x="1041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47053" y="4997446"/>
              <a:ext cx="142391" cy="17789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2829" y="4833626"/>
              <a:ext cx="160095" cy="12462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33573" y="4832551"/>
              <a:ext cx="160566" cy="12569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113267" y="2200338"/>
              <a:ext cx="745490" cy="746760"/>
            </a:xfrm>
            <a:custGeom>
              <a:avLst/>
              <a:gdLst/>
              <a:ahLst/>
              <a:cxnLst/>
              <a:rect l="l" t="t" r="r" b="b"/>
              <a:pathLst>
                <a:path w="745489" h="746760">
                  <a:moveTo>
                    <a:pt x="487819" y="270433"/>
                  </a:moveTo>
                  <a:lnTo>
                    <a:pt x="486879" y="270433"/>
                  </a:lnTo>
                  <a:lnTo>
                    <a:pt x="433197" y="270433"/>
                  </a:lnTo>
                  <a:lnTo>
                    <a:pt x="428485" y="271373"/>
                  </a:lnTo>
                  <a:lnTo>
                    <a:pt x="423773" y="274205"/>
                  </a:lnTo>
                  <a:lnTo>
                    <a:pt x="420954" y="277977"/>
                  </a:lnTo>
                  <a:lnTo>
                    <a:pt x="385165" y="316598"/>
                  </a:lnTo>
                  <a:lnTo>
                    <a:pt x="355028" y="212013"/>
                  </a:lnTo>
                  <a:lnTo>
                    <a:pt x="351790" y="206273"/>
                  </a:lnTo>
                  <a:lnTo>
                    <a:pt x="346786" y="202120"/>
                  </a:lnTo>
                  <a:lnTo>
                    <a:pt x="340728" y="200088"/>
                  </a:lnTo>
                  <a:lnTo>
                    <a:pt x="334314" y="200710"/>
                  </a:lnTo>
                  <a:lnTo>
                    <a:pt x="329603" y="202590"/>
                  </a:lnTo>
                  <a:lnTo>
                    <a:pt x="324891" y="205422"/>
                  </a:lnTo>
                  <a:lnTo>
                    <a:pt x="266509" y="360895"/>
                  </a:lnTo>
                  <a:lnTo>
                    <a:pt x="226009" y="144170"/>
                  </a:lnTo>
                  <a:lnTo>
                    <a:pt x="217538" y="138518"/>
                  </a:lnTo>
                  <a:lnTo>
                    <a:pt x="203415" y="141338"/>
                  </a:lnTo>
                  <a:lnTo>
                    <a:pt x="198704" y="146050"/>
                  </a:lnTo>
                  <a:lnTo>
                    <a:pt x="195872" y="151714"/>
                  </a:lnTo>
                  <a:lnTo>
                    <a:pt x="155384" y="270433"/>
                  </a:lnTo>
                  <a:lnTo>
                    <a:pt x="81927" y="270433"/>
                  </a:lnTo>
                  <a:lnTo>
                    <a:pt x="81927" y="308127"/>
                  </a:lnTo>
                  <a:lnTo>
                    <a:pt x="167627" y="308127"/>
                  </a:lnTo>
                  <a:lnTo>
                    <a:pt x="175158" y="307187"/>
                  </a:lnTo>
                  <a:lnTo>
                    <a:pt x="181749" y="301523"/>
                  </a:lnTo>
                  <a:lnTo>
                    <a:pt x="183629" y="293992"/>
                  </a:lnTo>
                  <a:lnTo>
                    <a:pt x="207175" y="222377"/>
                  </a:lnTo>
                  <a:lnTo>
                    <a:pt x="244843" y="424967"/>
                  </a:lnTo>
                  <a:lnTo>
                    <a:pt x="245795" y="432498"/>
                  </a:lnTo>
                  <a:lnTo>
                    <a:pt x="252387" y="438150"/>
                  </a:lnTo>
                  <a:lnTo>
                    <a:pt x="268389" y="438150"/>
                  </a:lnTo>
                  <a:lnTo>
                    <a:pt x="274980" y="434390"/>
                  </a:lnTo>
                  <a:lnTo>
                    <a:pt x="338086" y="269494"/>
                  </a:lnTo>
                  <a:lnTo>
                    <a:pt x="362559" y="354291"/>
                  </a:lnTo>
                  <a:lnTo>
                    <a:pt x="365671" y="360032"/>
                  </a:lnTo>
                  <a:lnTo>
                    <a:pt x="370459" y="364185"/>
                  </a:lnTo>
                  <a:lnTo>
                    <a:pt x="376466" y="366217"/>
                  </a:lnTo>
                  <a:lnTo>
                    <a:pt x="383286" y="365607"/>
                  </a:lnTo>
                  <a:lnTo>
                    <a:pt x="386105" y="364655"/>
                  </a:lnTo>
                  <a:lnTo>
                    <a:pt x="390817" y="360895"/>
                  </a:lnTo>
                  <a:lnTo>
                    <a:pt x="441667" y="308127"/>
                  </a:lnTo>
                  <a:lnTo>
                    <a:pt x="487819" y="308127"/>
                  </a:lnTo>
                  <a:lnTo>
                    <a:pt x="487819" y="270433"/>
                  </a:lnTo>
                  <a:close/>
                </a:path>
                <a:path w="745489" h="746760">
                  <a:moveTo>
                    <a:pt x="745147" y="680783"/>
                  </a:moveTo>
                  <a:lnTo>
                    <a:pt x="740384" y="655878"/>
                  </a:lnTo>
                  <a:lnTo>
                    <a:pt x="726071" y="634149"/>
                  </a:lnTo>
                  <a:lnTo>
                    <a:pt x="609307" y="516356"/>
                  </a:lnTo>
                  <a:lnTo>
                    <a:pt x="599655" y="508825"/>
                  </a:lnTo>
                  <a:lnTo>
                    <a:pt x="596734" y="506539"/>
                  </a:lnTo>
                  <a:lnTo>
                    <a:pt x="582231" y="499986"/>
                  </a:lnTo>
                  <a:lnTo>
                    <a:pt x="573836" y="498462"/>
                  </a:lnTo>
                  <a:lnTo>
                    <a:pt x="566661" y="497154"/>
                  </a:lnTo>
                  <a:lnTo>
                    <a:pt x="550913" y="498462"/>
                  </a:lnTo>
                  <a:lnTo>
                    <a:pt x="508533" y="456996"/>
                  </a:lnTo>
                  <a:lnTo>
                    <a:pt x="533552" y="418274"/>
                  </a:lnTo>
                  <a:lnTo>
                    <a:pt x="551853" y="376199"/>
                  </a:lnTo>
                  <a:lnTo>
                    <a:pt x="563092" y="331647"/>
                  </a:lnTo>
                  <a:lnTo>
                    <a:pt x="566928" y="285508"/>
                  </a:lnTo>
                  <a:lnTo>
                    <a:pt x="563460" y="239306"/>
                  </a:lnTo>
                  <a:lnTo>
                    <a:pt x="552907" y="195478"/>
                  </a:lnTo>
                  <a:lnTo>
                    <a:pt x="535863" y="154622"/>
                  </a:lnTo>
                  <a:lnTo>
                    <a:pt x="512902" y="117309"/>
                  </a:lnTo>
                  <a:lnTo>
                    <a:pt x="510324" y="114287"/>
                  </a:lnTo>
                  <a:lnTo>
                    <a:pt x="510324" y="285508"/>
                  </a:lnTo>
                  <a:lnTo>
                    <a:pt x="505802" y="329996"/>
                  </a:lnTo>
                  <a:lnTo>
                    <a:pt x="492582" y="372376"/>
                  </a:lnTo>
                  <a:lnTo>
                    <a:pt x="471678" y="410781"/>
                  </a:lnTo>
                  <a:lnTo>
                    <a:pt x="444030" y="444284"/>
                  </a:lnTo>
                  <a:lnTo>
                    <a:pt x="410540" y="471957"/>
                  </a:lnTo>
                  <a:lnTo>
                    <a:pt x="372160" y="492861"/>
                  </a:lnTo>
                  <a:lnTo>
                    <a:pt x="329679" y="506133"/>
                  </a:lnTo>
                  <a:lnTo>
                    <a:pt x="329425" y="506133"/>
                  </a:lnTo>
                  <a:lnTo>
                    <a:pt x="284403" y="510705"/>
                  </a:lnTo>
                  <a:lnTo>
                    <a:pt x="238734" y="506133"/>
                  </a:lnTo>
                  <a:lnTo>
                    <a:pt x="196240" y="493001"/>
                  </a:lnTo>
                  <a:lnTo>
                    <a:pt x="157848" y="472198"/>
                  </a:lnTo>
                  <a:lnTo>
                    <a:pt x="124421" y="444639"/>
                  </a:lnTo>
                  <a:lnTo>
                    <a:pt x="96875" y="411187"/>
                  </a:lnTo>
                  <a:lnTo>
                    <a:pt x="76085" y="372770"/>
                  </a:lnTo>
                  <a:lnTo>
                    <a:pt x="62953" y="330263"/>
                  </a:lnTo>
                  <a:lnTo>
                    <a:pt x="58483" y="285508"/>
                  </a:lnTo>
                  <a:lnTo>
                    <a:pt x="58381" y="284568"/>
                  </a:lnTo>
                  <a:lnTo>
                    <a:pt x="62915" y="239306"/>
                  </a:lnTo>
                  <a:lnTo>
                    <a:pt x="62953" y="238874"/>
                  </a:lnTo>
                  <a:lnTo>
                    <a:pt x="76085" y="196367"/>
                  </a:lnTo>
                  <a:lnTo>
                    <a:pt x="96875" y="157937"/>
                  </a:lnTo>
                  <a:lnTo>
                    <a:pt x="124421" y="124498"/>
                  </a:lnTo>
                  <a:lnTo>
                    <a:pt x="157848" y="96939"/>
                  </a:lnTo>
                  <a:lnTo>
                    <a:pt x="196240" y="76136"/>
                  </a:lnTo>
                  <a:lnTo>
                    <a:pt x="238734" y="63004"/>
                  </a:lnTo>
                  <a:lnTo>
                    <a:pt x="284403" y="58420"/>
                  </a:lnTo>
                  <a:lnTo>
                    <a:pt x="330073" y="63004"/>
                  </a:lnTo>
                  <a:lnTo>
                    <a:pt x="372554" y="76136"/>
                  </a:lnTo>
                  <a:lnTo>
                    <a:pt x="410959" y="96939"/>
                  </a:lnTo>
                  <a:lnTo>
                    <a:pt x="444385" y="124498"/>
                  </a:lnTo>
                  <a:lnTo>
                    <a:pt x="471932" y="157937"/>
                  </a:lnTo>
                  <a:lnTo>
                    <a:pt x="492721" y="196367"/>
                  </a:lnTo>
                  <a:lnTo>
                    <a:pt x="505841" y="238874"/>
                  </a:lnTo>
                  <a:lnTo>
                    <a:pt x="510235" y="282676"/>
                  </a:lnTo>
                  <a:lnTo>
                    <a:pt x="510324" y="285508"/>
                  </a:lnTo>
                  <a:lnTo>
                    <a:pt x="510324" y="114287"/>
                  </a:lnTo>
                  <a:lnTo>
                    <a:pt x="484644" y="84099"/>
                  </a:lnTo>
                  <a:lnTo>
                    <a:pt x="454939" y="58420"/>
                  </a:lnTo>
                  <a:lnTo>
                    <a:pt x="414540" y="32346"/>
                  </a:lnTo>
                  <a:lnTo>
                    <a:pt x="373900" y="14947"/>
                  </a:lnTo>
                  <a:lnTo>
                    <a:pt x="330327" y="3975"/>
                  </a:lnTo>
                  <a:lnTo>
                    <a:pt x="284403" y="0"/>
                  </a:lnTo>
                  <a:lnTo>
                    <a:pt x="238480" y="3467"/>
                  </a:lnTo>
                  <a:lnTo>
                    <a:pt x="194881" y="14020"/>
                  </a:lnTo>
                  <a:lnTo>
                    <a:pt x="154203" y="31089"/>
                  </a:lnTo>
                  <a:lnTo>
                    <a:pt x="117030" y="54051"/>
                  </a:lnTo>
                  <a:lnTo>
                    <a:pt x="83934" y="82334"/>
                  </a:lnTo>
                  <a:lnTo>
                    <a:pt x="55486" y="115341"/>
                  </a:lnTo>
                  <a:lnTo>
                    <a:pt x="32296" y="152463"/>
                  </a:lnTo>
                  <a:lnTo>
                    <a:pt x="14922" y="193128"/>
                  </a:lnTo>
                  <a:lnTo>
                    <a:pt x="3962" y="236728"/>
                  </a:lnTo>
                  <a:lnTo>
                    <a:pt x="0" y="282676"/>
                  </a:lnTo>
                  <a:lnTo>
                    <a:pt x="3454" y="328637"/>
                  </a:lnTo>
                  <a:lnTo>
                    <a:pt x="14058" y="372376"/>
                  </a:lnTo>
                  <a:lnTo>
                    <a:pt x="31064" y="412953"/>
                  </a:lnTo>
                  <a:lnTo>
                    <a:pt x="54013" y="450151"/>
                  </a:lnTo>
                  <a:lnTo>
                    <a:pt x="82283" y="483260"/>
                  </a:lnTo>
                  <a:lnTo>
                    <a:pt x="115265" y="511721"/>
                  </a:lnTo>
                  <a:lnTo>
                    <a:pt x="152374" y="534924"/>
                  </a:lnTo>
                  <a:lnTo>
                    <a:pt x="193014" y="552310"/>
                  </a:lnTo>
                  <a:lnTo>
                    <a:pt x="236588" y="563270"/>
                  </a:lnTo>
                  <a:lnTo>
                    <a:pt x="282524" y="567245"/>
                  </a:lnTo>
                  <a:lnTo>
                    <a:pt x="328790" y="563422"/>
                  </a:lnTo>
                  <a:lnTo>
                    <a:pt x="373748" y="552170"/>
                  </a:lnTo>
                  <a:lnTo>
                    <a:pt x="416407" y="533857"/>
                  </a:lnTo>
                  <a:lnTo>
                    <a:pt x="452831" y="510705"/>
                  </a:lnTo>
                  <a:lnTo>
                    <a:pt x="455803" y="508825"/>
                  </a:lnTo>
                  <a:lnTo>
                    <a:pt x="497230" y="550278"/>
                  </a:lnTo>
                  <a:lnTo>
                    <a:pt x="496328" y="566445"/>
                  </a:lnTo>
                  <a:lnTo>
                    <a:pt x="499122" y="582079"/>
                  </a:lnTo>
                  <a:lnTo>
                    <a:pt x="632841" y="727430"/>
                  </a:lnTo>
                  <a:lnTo>
                    <a:pt x="679462" y="746506"/>
                  </a:lnTo>
                  <a:lnTo>
                    <a:pt x="704354" y="741743"/>
                  </a:lnTo>
                  <a:lnTo>
                    <a:pt x="726071" y="727430"/>
                  </a:lnTo>
                  <a:lnTo>
                    <a:pt x="740384" y="705700"/>
                  </a:lnTo>
                  <a:lnTo>
                    <a:pt x="745147" y="6807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3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53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b="0" u="none" spc="-320" dirty="0">
                <a:latin typeface="Verdana"/>
                <a:cs typeface="Verdana"/>
              </a:rPr>
              <a:t>1)</a:t>
            </a:r>
            <a:r>
              <a:rPr b="0" u="none" spc="-229" dirty="0">
                <a:latin typeface="Verdana"/>
                <a:cs typeface="Verdana"/>
              </a:rPr>
              <a:t> </a:t>
            </a:r>
            <a:r>
              <a:rPr b="0" u="none" spc="55" dirty="0">
                <a:latin typeface="Verdana"/>
                <a:cs typeface="Verdana"/>
              </a:rPr>
              <a:t>Average</a:t>
            </a:r>
            <a:r>
              <a:rPr b="0" u="none" spc="-210" dirty="0">
                <a:latin typeface="Verdana"/>
                <a:cs typeface="Verdana"/>
              </a:rPr>
              <a:t> </a:t>
            </a:r>
            <a:r>
              <a:rPr b="0" u="none" dirty="0">
                <a:latin typeface="Verdana"/>
                <a:cs typeface="Verdana"/>
              </a:rPr>
              <a:t>Call</a:t>
            </a:r>
            <a:r>
              <a:rPr b="0" u="none" spc="-225" dirty="0">
                <a:latin typeface="Verdana"/>
                <a:cs typeface="Verdana"/>
              </a:rPr>
              <a:t> </a:t>
            </a:r>
            <a:r>
              <a:rPr b="0" u="none" spc="-65" dirty="0">
                <a:latin typeface="Verdana"/>
                <a:cs typeface="Verdana"/>
              </a:rPr>
              <a:t>Duration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4448" y="1040858"/>
            <a:ext cx="8342630" cy="11061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05"/>
              </a:spcBef>
              <a:buClr>
                <a:srgbClr val="DE31DE"/>
              </a:buClr>
              <a:buFont typeface="Wingdings"/>
              <a:buChar char=""/>
              <a:tabLst>
                <a:tab pos="354965" algn="l"/>
              </a:tabLst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1):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bucket?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05"/>
              </a:spcBef>
              <a:buClr>
                <a:srgbClr val="DE31DE"/>
              </a:buClr>
              <a:buFont typeface="Wingdings"/>
              <a:buChar char=""/>
              <a:tabLst>
                <a:tab pos="35496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Insight:The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duration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4pm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9pm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12am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to2pm.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3E2E9EE-FDFF-4D7F-A45C-ACB819A448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345266"/>
              </p:ext>
            </p:extLst>
          </p:nvPr>
        </p:nvGraphicFramePr>
        <p:xfrm>
          <a:off x="2851530" y="2590800"/>
          <a:ext cx="735927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0135">
              <a:lnSpc>
                <a:spcPct val="100000"/>
              </a:lnSpc>
              <a:spcBef>
                <a:spcPts val="100"/>
              </a:spcBef>
            </a:pPr>
            <a:r>
              <a:rPr b="0" u="none" spc="-95" dirty="0">
                <a:latin typeface="Verdana"/>
                <a:cs typeface="Verdana"/>
              </a:rPr>
              <a:t>2)Call</a:t>
            </a:r>
            <a:r>
              <a:rPr b="0" u="none" spc="-245" dirty="0">
                <a:latin typeface="Verdana"/>
                <a:cs typeface="Verdana"/>
              </a:rPr>
              <a:t> </a:t>
            </a:r>
            <a:r>
              <a:rPr b="0" u="none" spc="-20" dirty="0">
                <a:latin typeface="Verdana"/>
                <a:cs typeface="Verdana"/>
              </a:rPr>
              <a:t>Volume</a:t>
            </a:r>
            <a:r>
              <a:rPr b="0" u="none" spc="-250" dirty="0">
                <a:latin typeface="Verdana"/>
                <a:cs typeface="Verdana"/>
              </a:rPr>
              <a:t> </a:t>
            </a:r>
            <a:r>
              <a:rPr b="0" u="none" spc="-135" dirty="0">
                <a:latin typeface="Verdana"/>
                <a:cs typeface="Verdana"/>
              </a:rPr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0258806" cy="6858000"/>
            <a:chOff x="0" y="0"/>
            <a:chExt cx="10258806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6416" y="6246881"/>
              <a:ext cx="7692390" cy="61111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947164" y="1073277"/>
            <a:ext cx="9741535" cy="1113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 indent="-28575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03530" algn="l"/>
              </a:tabLst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18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2):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received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bucket?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075"/>
              </a:spcBef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Insight: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below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chart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observe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received</a:t>
            </a:r>
            <a:endParaRPr sz="18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10am-2pm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bucket.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D38BF71F-0640-4ECB-9225-62FC283E02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9304603"/>
              </p:ext>
            </p:extLst>
          </p:nvPr>
        </p:nvGraphicFramePr>
        <p:xfrm>
          <a:off x="2514599" y="1371600"/>
          <a:ext cx="7744207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315" dirty="0">
                <a:latin typeface="Verdana"/>
                <a:cs typeface="Verdana"/>
              </a:rPr>
              <a:t>Task</a:t>
            </a:r>
            <a:r>
              <a:rPr b="0" u="none" spc="-270" dirty="0">
                <a:latin typeface="Verdana"/>
                <a:cs typeface="Verdana"/>
              </a:rPr>
              <a:t> </a:t>
            </a:r>
            <a:r>
              <a:rPr b="0" u="none" dirty="0">
                <a:latin typeface="Verdana"/>
                <a:cs typeface="Verdana"/>
              </a:rPr>
              <a:t>3)Manpower</a:t>
            </a:r>
            <a:r>
              <a:rPr b="0" u="none" spc="-265" dirty="0">
                <a:latin typeface="Verdana"/>
                <a:cs typeface="Verdana"/>
              </a:rPr>
              <a:t> </a:t>
            </a:r>
            <a:r>
              <a:rPr b="0" u="none" dirty="0">
                <a:latin typeface="Verdana"/>
                <a:cs typeface="Verdana"/>
              </a:rPr>
              <a:t>Day</a:t>
            </a:r>
            <a:r>
              <a:rPr b="0" u="none" spc="-275" dirty="0">
                <a:latin typeface="Verdana"/>
                <a:cs typeface="Verdana"/>
              </a:rPr>
              <a:t> </a:t>
            </a:r>
            <a:r>
              <a:rPr b="0" u="none" spc="-10" dirty="0">
                <a:latin typeface="Verdana"/>
                <a:cs typeface="Verdana"/>
              </a:rPr>
              <a:t>Planning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53945" y="981837"/>
            <a:ext cx="991679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84175" indent="-342900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sz="2000" b="1" spc="-20" dirty="0">
                <a:solidFill>
                  <a:srgbClr val="FFFFFF"/>
                </a:solidFill>
                <a:latin typeface="Calibri"/>
                <a:cs typeface="Calibri"/>
              </a:rPr>
              <a:t>Task:</a:t>
            </a:r>
            <a:r>
              <a:rPr sz="20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minimum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agents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abandon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10%?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Insight: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call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abandonment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bucket,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patterns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shows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abandon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beginning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shift.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00BD409-3CD6-4B2F-8EC8-1B4012C88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3486896"/>
              </p:ext>
            </p:extLst>
          </p:nvPr>
        </p:nvGraphicFramePr>
        <p:xfrm>
          <a:off x="1166240" y="2590800"/>
          <a:ext cx="9829800" cy="3198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8A3D22A6-5348-F51A-0F47-874C6BB9C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837612"/>
            <a:ext cx="10798865" cy="13041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1408" y="196722"/>
            <a:ext cx="57251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315" dirty="0">
                <a:latin typeface="Verdana"/>
                <a:cs typeface="Verdana"/>
              </a:rPr>
              <a:t>Task</a:t>
            </a:r>
            <a:r>
              <a:rPr b="0" u="none" spc="-245" dirty="0">
                <a:latin typeface="Verdana"/>
                <a:cs typeface="Verdana"/>
              </a:rPr>
              <a:t> </a:t>
            </a:r>
            <a:r>
              <a:rPr b="0" u="none" spc="-160" dirty="0">
                <a:latin typeface="Verdana"/>
                <a:cs typeface="Verdana"/>
              </a:rPr>
              <a:t>4)Night</a:t>
            </a:r>
            <a:r>
              <a:rPr b="0" u="none" spc="-229" dirty="0">
                <a:latin typeface="Verdana"/>
                <a:cs typeface="Verdana"/>
              </a:rPr>
              <a:t> </a:t>
            </a:r>
            <a:r>
              <a:rPr b="0" u="none" spc="-270" dirty="0">
                <a:latin typeface="Verdana"/>
                <a:cs typeface="Verdana"/>
              </a:rPr>
              <a:t>Shift</a:t>
            </a:r>
            <a:r>
              <a:rPr b="0" u="none" spc="-254" dirty="0">
                <a:latin typeface="Verdana"/>
                <a:cs typeface="Verdana"/>
              </a:rPr>
              <a:t> </a:t>
            </a:r>
            <a:r>
              <a:rPr b="0" u="none" spc="-10" dirty="0">
                <a:latin typeface="Verdana"/>
                <a:cs typeface="Verdana"/>
              </a:rPr>
              <a:t>Planning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53945" y="832484"/>
            <a:ext cx="972375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21640" indent="337820">
              <a:lnSpc>
                <a:spcPct val="100000"/>
              </a:lnSpc>
              <a:spcBef>
                <a:spcPts val="100"/>
              </a:spcBef>
              <a:buClr>
                <a:srgbClr val="8492A6"/>
              </a:buClr>
              <a:buFont typeface="Wingdings"/>
              <a:buChar char=""/>
              <a:tabLst>
                <a:tab pos="350520" algn="l"/>
              </a:tabLst>
            </a:pP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Task:</a:t>
            </a:r>
            <a:r>
              <a:rPr sz="1800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Propose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manpower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plan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throughout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day,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keeping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maximum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abandon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10%.</a:t>
            </a:r>
            <a:endParaRPr sz="1800">
              <a:latin typeface="Calibri"/>
              <a:cs typeface="Calibri"/>
            </a:endParaRPr>
          </a:p>
          <a:p>
            <a:pPr marL="297815" marR="5080" indent="-285750">
              <a:lnSpc>
                <a:spcPct val="100000"/>
              </a:lnSpc>
              <a:buFont typeface="Wingdings"/>
              <a:buChar char="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Insight: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100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9am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9pm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,they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calls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night 	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9pm-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9am.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agents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required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Abandon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rate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10%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648568A-3AE2-EAEE-92F8-999ADF8314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7157302"/>
              </p:ext>
            </p:extLst>
          </p:nvPr>
        </p:nvGraphicFramePr>
        <p:xfrm>
          <a:off x="2590800" y="1524000"/>
          <a:ext cx="78486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C3339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851530" cy="6858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1565">
              <a:lnSpc>
                <a:spcPct val="100000"/>
              </a:lnSpc>
              <a:spcBef>
                <a:spcPts val="100"/>
              </a:spcBef>
            </a:pPr>
            <a:r>
              <a:rPr spc="-275" dirty="0"/>
              <a:t>Insights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202942" y="1525270"/>
            <a:ext cx="8827770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1915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average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call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duration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85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199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seconds.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highest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call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duration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is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observed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during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PM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9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PM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time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slot,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with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average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of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203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seconds.</a:t>
            </a:r>
            <a:endParaRPr sz="18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  <a:tab pos="362585" algn="l"/>
              </a:tabLst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lowest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call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durations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noted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between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12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25" dirty="0">
                <a:solidFill>
                  <a:srgbClr val="FFFFFF"/>
                </a:solidFill>
                <a:latin typeface="Verdana"/>
                <a:cs typeface="Verdana"/>
              </a:rPr>
              <a:t>AM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7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PM,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which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indicates </a:t>
            </a: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lighter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load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less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complex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issues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during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these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hours.</a:t>
            </a:r>
            <a:endParaRPr sz="1800">
              <a:latin typeface="Verdana"/>
              <a:cs typeface="Verdana"/>
            </a:endParaRPr>
          </a:p>
          <a:p>
            <a:pPr marL="299085" marR="313055" indent="-287020">
              <a:lnSpc>
                <a:spcPct val="100000"/>
              </a:lnSpc>
              <a:spcBef>
                <a:spcPts val="2160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reduce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Verdana"/>
                <a:cs typeface="Verdana"/>
              </a:rPr>
              <a:t>abandon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rate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85" dirty="0">
                <a:solidFill>
                  <a:srgbClr val="FFFFFF"/>
                </a:solidFill>
                <a:latin typeface="Verdana"/>
                <a:cs typeface="Verdana"/>
              </a:rPr>
              <a:t>10%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it’s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50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90" dirty="0">
                <a:solidFill>
                  <a:srgbClr val="FFFFFF"/>
                </a:solidFill>
                <a:latin typeface="Verdana"/>
                <a:cs typeface="Verdana"/>
              </a:rPr>
              <a:t>good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idea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adjust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agent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schedules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by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adding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staff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the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morning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afternoon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shift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(9am-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2pm)..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If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needed,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hiring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additional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agents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cover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busy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times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could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help.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Using 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flexible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work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schedules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could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also</a:t>
            </a:r>
            <a:r>
              <a:rPr sz="18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ensure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enough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staff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available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when </a:t>
            </a:r>
            <a:r>
              <a:rPr sz="1800" spc="55" dirty="0">
                <a:solidFill>
                  <a:srgbClr val="FFFFFF"/>
                </a:solidFill>
                <a:latin typeface="Verdana"/>
                <a:cs typeface="Verdana"/>
              </a:rPr>
              <a:t>demand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90" dirty="0">
                <a:solidFill>
                  <a:srgbClr val="FFFFFF"/>
                </a:solidFill>
                <a:latin typeface="Verdana"/>
                <a:cs typeface="Verdana"/>
              </a:rPr>
              <a:t>is</a:t>
            </a:r>
            <a:r>
              <a:rPr sz="1800" spc="-1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highest.</a:t>
            </a:r>
            <a:endParaRPr sz="1800">
              <a:latin typeface="Verdana"/>
              <a:cs typeface="Verdana"/>
            </a:endParaRPr>
          </a:p>
          <a:p>
            <a:pPr marL="299085" marR="62865" indent="-287020">
              <a:lnSpc>
                <a:spcPct val="100000"/>
              </a:lnSpc>
              <a:spcBef>
                <a:spcPts val="2165"/>
              </a:spcBef>
              <a:buFont typeface="Wingdings"/>
              <a:buChar char=""/>
              <a:tabLst>
                <a:tab pos="299085" algn="l"/>
              </a:tabLst>
            </a:pP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High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demand</a:t>
            </a:r>
            <a:r>
              <a:rPr sz="1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periods</a:t>
            </a:r>
            <a:r>
              <a:rPr sz="18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necessary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for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additional</a:t>
            </a:r>
            <a:r>
              <a:rPr sz="1800" spc="-1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manpower.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Proper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30" dirty="0">
                <a:solidFill>
                  <a:srgbClr val="FFFFFF"/>
                </a:solidFill>
                <a:latin typeface="Verdana"/>
                <a:cs typeface="Verdana"/>
              </a:rPr>
              <a:t>shift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adjustments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staff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allocation</a:t>
            </a:r>
            <a:r>
              <a:rPr sz="18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FFFFFF"/>
                </a:solidFill>
                <a:latin typeface="Verdana"/>
                <a:cs typeface="Verdana"/>
              </a:rPr>
              <a:t>can</a:t>
            </a:r>
            <a:r>
              <a:rPr sz="18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help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reduce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abandonment 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rates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FFFFFF"/>
                </a:solidFill>
                <a:latin typeface="Verdana"/>
                <a:cs typeface="Verdana"/>
              </a:rPr>
              <a:t>and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improve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overall</a:t>
            </a:r>
            <a:r>
              <a:rPr sz="18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efficiency.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787778-9138-B8A3-4C70-AA8CF3CB9C05}"/>
              </a:ext>
            </a:extLst>
          </p:cNvPr>
          <p:cNvSpPr/>
          <p:nvPr/>
        </p:nvSpPr>
        <p:spPr>
          <a:xfrm>
            <a:off x="3276600" y="766572"/>
            <a:ext cx="4419600" cy="8336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78882" y="243027"/>
            <a:ext cx="13881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70" dirty="0">
                <a:latin typeface="Verdana"/>
                <a:cs typeface="Verdana"/>
              </a:rPr>
              <a:t>Result</a:t>
            </a:r>
          </a:p>
        </p:txBody>
      </p:sp>
      <p:sp>
        <p:nvSpPr>
          <p:cNvPr id="3" name="object 3"/>
          <p:cNvSpPr/>
          <p:nvPr/>
        </p:nvSpPr>
        <p:spPr>
          <a:xfrm>
            <a:off x="5181600" y="2893002"/>
            <a:ext cx="1362710" cy="26034"/>
          </a:xfrm>
          <a:custGeom>
            <a:avLst/>
            <a:gdLst/>
            <a:ahLst/>
            <a:cxnLst/>
            <a:rect l="l" t="t" r="r" b="b"/>
            <a:pathLst>
              <a:path w="1362709" h="26034">
                <a:moveTo>
                  <a:pt x="1362455" y="0"/>
                </a:moveTo>
                <a:lnTo>
                  <a:pt x="0" y="0"/>
                </a:lnTo>
                <a:lnTo>
                  <a:pt x="0" y="25907"/>
                </a:lnTo>
                <a:lnTo>
                  <a:pt x="1362455" y="25907"/>
                </a:lnTo>
                <a:lnTo>
                  <a:pt x="13624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591945" cy="6858000"/>
            </a:xfrm>
            <a:custGeom>
              <a:avLst/>
              <a:gdLst/>
              <a:ahLst/>
              <a:cxnLst/>
              <a:rect l="l" t="t" r="r" b="b"/>
              <a:pathLst>
                <a:path w="1591945" h="6858000">
                  <a:moveTo>
                    <a:pt x="1591360" y="968883"/>
                  </a:moveTo>
                  <a:lnTo>
                    <a:pt x="1589608" y="961707"/>
                  </a:lnTo>
                  <a:lnTo>
                    <a:pt x="1584325" y="954532"/>
                  </a:lnTo>
                  <a:lnTo>
                    <a:pt x="1355344" y="725678"/>
                  </a:lnTo>
                  <a:lnTo>
                    <a:pt x="1350391" y="725678"/>
                  </a:lnTo>
                  <a:lnTo>
                    <a:pt x="1350391" y="720852"/>
                  </a:lnTo>
                  <a:lnTo>
                    <a:pt x="1345692" y="720852"/>
                  </a:lnTo>
                  <a:lnTo>
                    <a:pt x="1340993" y="716153"/>
                  </a:lnTo>
                  <a:lnTo>
                    <a:pt x="182880" y="714629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714375"/>
                  </a:lnTo>
                  <a:lnTo>
                    <a:pt x="0" y="1218196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1218704"/>
                  </a:lnTo>
                  <a:lnTo>
                    <a:pt x="1245438" y="1221613"/>
                  </a:lnTo>
                  <a:lnTo>
                    <a:pt x="1345692" y="1221613"/>
                  </a:lnTo>
                  <a:lnTo>
                    <a:pt x="1351915" y="1215263"/>
                  </a:lnTo>
                  <a:lnTo>
                    <a:pt x="1353820" y="1213739"/>
                  </a:lnTo>
                  <a:lnTo>
                    <a:pt x="1584325" y="983234"/>
                  </a:lnTo>
                  <a:lnTo>
                    <a:pt x="1589608" y="976071"/>
                  </a:lnTo>
                  <a:lnTo>
                    <a:pt x="1591360" y="96888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3400912" y="3124200"/>
            <a:ext cx="5854700" cy="304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315" indent="63500">
              <a:lnSpc>
                <a:spcPct val="100000"/>
              </a:lnSpc>
              <a:spcBef>
                <a:spcPts val="100"/>
              </a:spcBef>
            </a:pPr>
            <a:r>
              <a:rPr spc="-50" dirty="0">
                <a:solidFill>
                  <a:schemeClr val="bg2">
                    <a:lumMod val="50000"/>
                  </a:schemeClr>
                </a:solidFill>
              </a:rPr>
              <a:t>This</a:t>
            </a:r>
            <a:r>
              <a:rPr spc="-12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45" dirty="0">
                <a:solidFill>
                  <a:schemeClr val="bg2">
                    <a:lumMod val="50000"/>
                  </a:schemeClr>
                </a:solidFill>
              </a:rPr>
              <a:t>project</a:t>
            </a:r>
            <a:r>
              <a:rPr spc="-11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5" dirty="0">
                <a:solidFill>
                  <a:schemeClr val="bg2">
                    <a:lumMod val="50000"/>
                  </a:schemeClr>
                </a:solidFill>
              </a:rPr>
              <a:t>was</a:t>
            </a:r>
            <a:r>
              <a:rPr spc="-12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35" dirty="0">
                <a:solidFill>
                  <a:schemeClr val="bg2">
                    <a:lumMod val="50000"/>
                  </a:schemeClr>
                </a:solidFill>
              </a:rPr>
              <a:t>challenging</a:t>
            </a:r>
            <a:r>
              <a:rPr spc="-8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0" dirty="0">
                <a:solidFill>
                  <a:schemeClr val="bg2">
                    <a:lumMod val="50000"/>
                  </a:schemeClr>
                </a:solidFill>
              </a:rPr>
              <a:t>and</a:t>
            </a:r>
            <a:r>
              <a:rPr spc="-12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80" dirty="0">
                <a:solidFill>
                  <a:schemeClr val="bg2">
                    <a:lumMod val="50000"/>
                  </a:schemeClr>
                </a:solidFill>
              </a:rPr>
              <a:t>has</a:t>
            </a:r>
            <a:r>
              <a:rPr spc="-10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35" dirty="0">
                <a:solidFill>
                  <a:schemeClr val="bg2">
                    <a:lumMod val="50000"/>
                  </a:schemeClr>
                </a:solidFill>
              </a:rPr>
              <a:t>helped</a:t>
            </a:r>
            <a:r>
              <a:rPr spc="-114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90" dirty="0">
                <a:solidFill>
                  <a:schemeClr val="bg2">
                    <a:lumMod val="50000"/>
                  </a:schemeClr>
                </a:solidFill>
              </a:rPr>
              <a:t>me</a:t>
            </a:r>
            <a:r>
              <a:rPr spc="-114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25" dirty="0">
                <a:solidFill>
                  <a:schemeClr val="bg2">
                    <a:lumMod val="50000"/>
                  </a:schemeClr>
                </a:solidFill>
              </a:rPr>
              <a:t>to </a:t>
            </a:r>
            <a:r>
              <a:rPr spc="-65" dirty="0">
                <a:solidFill>
                  <a:schemeClr val="bg2">
                    <a:lumMod val="50000"/>
                  </a:schemeClr>
                </a:solidFill>
              </a:rPr>
              <a:t>enhance</a:t>
            </a:r>
            <a:r>
              <a:rPr spc="-7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85" dirty="0">
                <a:solidFill>
                  <a:schemeClr val="bg2">
                    <a:lumMod val="50000"/>
                  </a:schemeClr>
                </a:solidFill>
              </a:rPr>
              <a:t>my</a:t>
            </a:r>
            <a:r>
              <a:rPr spc="-13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0" dirty="0">
                <a:solidFill>
                  <a:schemeClr val="bg2">
                    <a:lumMod val="50000"/>
                  </a:schemeClr>
                </a:solidFill>
              </a:rPr>
              <a:t>skills</a:t>
            </a:r>
            <a:r>
              <a:rPr spc="-12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bg2">
                    <a:lumMod val="50000"/>
                  </a:schemeClr>
                </a:solidFill>
              </a:rPr>
              <a:t>in</a:t>
            </a:r>
            <a:r>
              <a:rPr spc="-12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80" dirty="0">
                <a:solidFill>
                  <a:schemeClr val="bg2">
                    <a:lumMod val="50000"/>
                  </a:schemeClr>
                </a:solidFill>
              </a:rPr>
              <a:t>Excel</a:t>
            </a:r>
            <a:r>
              <a:rPr spc="-9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85" dirty="0">
                <a:solidFill>
                  <a:schemeClr val="bg2">
                    <a:lumMod val="50000"/>
                  </a:schemeClr>
                </a:solidFill>
              </a:rPr>
              <a:t>usage,</a:t>
            </a:r>
            <a:r>
              <a:rPr spc="-1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bg2">
                    <a:lumMod val="50000"/>
                  </a:schemeClr>
                </a:solidFill>
              </a:rPr>
              <a:t>comfortability </a:t>
            </a:r>
            <a:r>
              <a:rPr spc="-35" dirty="0">
                <a:solidFill>
                  <a:schemeClr val="bg2">
                    <a:lumMod val="50000"/>
                  </a:schemeClr>
                </a:solidFill>
              </a:rPr>
              <a:t>around</a:t>
            </a:r>
            <a:r>
              <a:rPr spc="-10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45" dirty="0">
                <a:solidFill>
                  <a:schemeClr val="bg2">
                    <a:lumMod val="50000"/>
                  </a:schemeClr>
                </a:solidFill>
              </a:rPr>
              <a:t>it,</a:t>
            </a:r>
            <a:r>
              <a:rPr spc="-12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0" dirty="0">
                <a:solidFill>
                  <a:schemeClr val="bg2">
                    <a:lumMod val="50000"/>
                  </a:schemeClr>
                </a:solidFill>
              </a:rPr>
              <a:t>data</a:t>
            </a:r>
            <a:r>
              <a:rPr spc="-12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60" dirty="0">
                <a:solidFill>
                  <a:schemeClr val="bg2">
                    <a:lumMod val="50000"/>
                  </a:schemeClr>
                </a:solidFill>
              </a:rPr>
              <a:t>analysis</a:t>
            </a:r>
            <a:r>
              <a:rPr spc="-114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5" dirty="0">
                <a:solidFill>
                  <a:schemeClr val="bg2">
                    <a:lumMod val="50000"/>
                  </a:schemeClr>
                </a:solidFill>
              </a:rPr>
              <a:t>and</a:t>
            </a:r>
            <a:r>
              <a:rPr spc="-12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bg2">
                    <a:lumMod val="50000"/>
                  </a:schemeClr>
                </a:solidFill>
              </a:rPr>
              <a:t>visualization.</a:t>
            </a:r>
          </a:p>
          <a:p>
            <a:pPr marL="12700" marR="848360">
              <a:lnSpc>
                <a:spcPct val="100000"/>
              </a:lnSpc>
              <a:spcBef>
                <a:spcPts val="2165"/>
              </a:spcBef>
            </a:pPr>
            <a:r>
              <a:rPr spc="-45" dirty="0">
                <a:solidFill>
                  <a:schemeClr val="bg2">
                    <a:lumMod val="50000"/>
                  </a:schemeClr>
                </a:solidFill>
              </a:rPr>
              <a:t>Skill</a:t>
            </a:r>
            <a:r>
              <a:rPr spc="-11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80" dirty="0">
                <a:solidFill>
                  <a:schemeClr val="bg2">
                    <a:lumMod val="50000"/>
                  </a:schemeClr>
                </a:solidFill>
              </a:rPr>
              <a:t>learned:</a:t>
            </a:r>
            <a:r>
              <a:rPr spc="-9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0" dirty="0">
                <a:solidFill>
                  <a:schemeClr val="bg2">
                    <a:lumMod val="50000"/>
                  </a:schemeClr>
                </a:solidFill>
              </a:rPr>
              <a:t>problem-</a:t>
            </a:r>
            <a:r>
              <a:rPr spc="-35" dirty="0">
                <a:solidFill>
                  <a:schemeClr val="bg2">
                    <a:lumMod val="50000"/>
                  </a:schemeClr>
                </a:solidFill>
              </a:rPr>
              <a:t>solving</a:t>
            </a:r>
            <a:r>
              <a:rPr spc="-7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55" dirty="0">
                <a:solidFill>
                  <a:schemeClr val="bg2">
                    <a:lumMod val="50000"/>
                  </a:schemeClr>
                </a:solidFill>
              </a:rPr>
              <a:t>and</a:t>
            </a:r>
            <a:r>
              <a:rPr spc="-105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spc="-10" dirty="0">
                <a:solidFill>
                  <a:schemeClr val="bg2">
                    <a:lumMod val="50000"/>
                  </a:schemeClr>
                </a:solidFill>
              </a:rPr>
              <a:t>manpower </a:t>
            </a:r>
            <a:r>
              <a:rPr spc="-10" dirty="0"/>
              <a:t>planning.</a:t>
            </a:r>
          </a:p>
          <a:p>
            <a:pPr marL="12700" marR="5080">
              <a:lnSpc>
                <a:spcPct val="100000"/>
              </a:lnSpc>
              <a:spcBef>
                <a:spcPts val="2160"/>
              </a:spcBef>
            </a:pPr>
            <a:r>
              <a:rPr spc="-60" dirty="0"/>
              <a:t>Overall,</a:t>
            </a:r>
            <a:r>
              <a:rPr spc="-145" dirty="0"/>
              <a:t> </a:t>
            </a:r>
            <a:r>
              <a:rPr spc="-35" dirty="0"/>
              <a:t>this</a:t>
            </a:r>
            <a:r>
              <a:rPr spc="-110" dirty="0"/>
              <a:t> </a:t>
            </a:r>
            <a:r>
              <a:rPr spc="-45" dirty="0"/>
              <a:t>project</a:t>
            </a:r>
            <a:r>
              <a:rPr spc="-105" dirty="0"/>
              <a:t> </a:t>
            </a:r>
            <a:r>
              <a:rPr spc="-60" dirty="0"/>
              <a:t>enhanced </a:t>
            </a:r>
            <a:r>
              <a:rPr spc="-85" dirty="0"/>
              <a:t>my</a:t>
            </a:r>
            <a:r>
              <a:rPr spc="-125" dirty="0"/>
              <a:t> </a:t>
            </a:r>
            <a:r>
              <a:rPr spc="-70" dirty="0"/>
              <a:t>Excel</a:t>
            </a:r>
            <a:r>
              <a:rPr spc="-105" dirty="0"/>
              <a:t> </a:t>
            </a:r>
            <a:r>
              <a:rPr spc="-50" dirty="0"/>
              <a:t>skills</a:t>
            </a:r>
            <a:r>
              <a:rPr spc="-114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spc="-20" dirty="0"/>
              <a:t>data </a:t>
            </a:r>
            <a:r>
              <a:rPr spc="-70" dirty="0"/>
              <a:t>analysis,</a:t>
            </a:r>
            <a:r>
              <a:rPr spc="-120" dirty="0"/>
              <a:t> </a:t>
            </a:r>
            <a:r>
              <a:rPr spc="-25" dirty="0"/>
              <a:t>equipping</a:t>
            </a:r>
            <a:r>
              <a:rPr spc="-95" dirty="0"/>
              <a:t> </a:t>
            </a:r>
            <a:r>
              <a:rPr spc="-85" dirty="0"/>
              <a:t>me</a:t>
            </a:r>
            <a:r>
              <a:rPr spc="-120" dirty="0"/>
              <a:t> </a:t>
            </a:r>
            <a:r>
              <a:rPr dirty="0"/>
              <a:t>with</a:t>
            </a:r>
            <a:r>
              <a:rPr spc="-120" dirty="0"/>
              <a:t> </a:t>
            </a:r>
            <a:r>
              <a:rPr spc="-35" dirty="0"/>
              <a:t>the</a:t>
            </a:r>
            <a:r>
              <a:rPr spc="-120" dirty="0"/>
              <a:t> </a:t>
            </a:r>
            <a:r>
              <a:rPr spc="-25" dirty="0"/>
              <a:t>ability</a:t>
            </a:r>
            <a:r>
              <a:rPr spc="-130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10" dirty="0"/>
              <a:t>extract </a:t>
            </a:r>
            <a:r>
              <a:rPr spc="-40" dirty="0"/>
              <a:t>meaningful</a:t>
            </a:r>
            <a:r>
              <a:rPr spc="-110" dirty="0"/>
              <a:t> </a:t>
            </a:r>
            <a:r>
              <a:rPr spc="-45" dirty="0"/>
              <a:t>insights</a:t>
            </a:r>
            <a:r>
              <a:rPr spc="-70" dirty="0"/>
              <a:t> </a:t>
            </a:r>
            <a:r>
              <a:rPr spc="-170" dirty="0"/>
              <a:t>,</a:t>
            </a:r>
            <a:r>
              <a:rPr spc="-114" dirty="0"/>
              <a:t> </a:t>
            </a:r>
            <a:r>
              <a:rPr spc="-80" dirty="0"/>
              <a:t>make</a:t>
            </a:r>
            <a:r>
              <a:rPr spc="-135" dirty="0"/>
              <a:t> </a:t>
            </a:r>
            <a:r>
              <a:rPr spc="-35" dirty="0"/>
              <a:t>informed</a:t>
            </a:r>
            <a:r>
              <a:rPr spc="-100" dirty="0"/>
              <a:t> </a:t>
            </a:r>
            <a:r>
              <a:rPr spc="-50" dirty="0"/>
              <a:t>decisions</a:t>
            </a:r>
            <a:r>
              <a:rPr spc="-60" dirty="0"/>
              <a:t> </a:t>
            </a:r>
            <a:r>
              <a:rPr spc="-25" dirty="0"/>
              <a:t>and contribute</a:t>
            </a:r>
            <a:r>
              <a:rPr spc="-85" dirty="0"/>
              <a:t> </a:t>
            </a:r>
            <a:r>
              <a:rPr dirty="0"/>
              <a:t>to</a:t>
            </a:r>
            <a:r>
              <a:rPr spc="-114" dirty="0"/>
              <a:t> </a:t>
            </a:r>
            <a:r>
              <a:rPr spc="-30" dirty="0"/>
              <a:t>better</a:t>
            </a:r>
            <a:r>
              <a:rPr spc="-114" dirty="0"/>
              <a:t> </a:t>
            </a:r>
            <a:r>
              <a:rPr spc="-10" dirty="0"/>
              <a:t>outcomes.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AA43CA-4B95-ED90-8DD7-F8B0951111FB}"/>
              </a:ext>
            </a:extLst>
          </p:cNvPr>
          <p:cNvSpPr txBox="1"/>
          <p:nvPr/>
        </p:nvSpPr>
        <p:spPr>
          <a:xfrm>
            <a:off x="3834130" y="1025704"/>
            <a:ext cx="563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 action="ppaction://hlinkfile"/>
              </a:rPr>
              <a:t>Excel Sheet Hyper Link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8270" y="3884803"/>
            <a:ext cx="36201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275" dirty="0">
                <a:latin typeface="Tahoma"/>
                <a:cs typeface="Tahoma"/>
              </a:rPr>
              <a:t>Thank</a:t>
            </a:r>
            <a:r>
              <a:rPr sz="5400" b="1" spc="-60" dirty="0">
                <a:latin typeface="Tahoma"/>
                <a:cs typeface="Tahoma"/>
              </a:rPr>
              <a:t> </a:t>
            </a:r>
            <a:r>
              <a:rPr sz="5400" b="1" spc="-80" dirty="0">
                <a:latin typeface="Tahoma"/>
                <a:cs typeface="Tahoma"/>
              </a:rPr>
              <a:t>you!</a:t>
            </a:r>
            <a:endParaRPr sz="54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68270" y="4806822"/>
            <a:ext cx="4755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75" dirty="0">
                <a:latin typeface="Tahoma"/>
                <a:cs typeface="Tahoma"/>
              </a:rPr>
              <a:t>Project</a:t>
            </a:r>
            <a:r>
              <a:rPr sz="2000" b="1" spc="-45" dirty="0">
                <a:latin typeface="Tahoma"/>
                <a:cs typeface="Tahoma"/>
              </a:rPr>
              <a:t> </a:t>
            </a:r>
            <a:r>
              <a:rPr sz="2000" b="1" spc="50" dirty="0">
                <a:latin typeface="Tahoma"/>
                <a:cs typeface="Tahoma"/>
              </a:rPr>
              <a:t>made</a:t>
            </a:r>
            <a:r>
              <a:rPr sz="2000" b="1" spc="-35" dirty="0">
                <a:latin typeface="Tahoma"/>
                <a:cs typeface="Tahoma"/>
              </a:rPr>
              <a:t> </a:t>
            </a:r>
            <a:r>
              <a:rPr sz="2000" b="1" dirty="0">
                <a:latin typeface="Tahoma"/>
                <a:cs typeface="Tahoma"/>
              </a:rPr>
              <a:t>by</a:t>
            </a:r>
            <a:r>
              <a:rPr sz="2000" b="1" spc="-10" dirty="0">
                <a:latin typeface="Tahoma"/>
                <a:cs typeface="Tahoma"/>
              </a:rPr>
              <a:t> </a:t>
            </a:r>
            <a:r>
              <a:rPr sz="2000" b="1" spc="-285" dirty="0">
                <a:latin typeface="Tahoma"/>
                <a:cs typeface="Tahoma"/>
              </a:rPr>
              <a:t>–</a:t>
            </a:r>
            <a:r>
              <a:rPr sz="2000" b="1" spc="-25" dirty="0">
                <a:latin typeface="Tahoma"/>
                <a:cs typeface="Tahoma"/>
              </a:rPr>
              <a:t> </a:t>
            </a:r>
            <a:r>
              <a:rPr lang="en-US" sz="2000" b="1" spc="-45" dirty="0">
                <a:latin typeface="Tahoma"/>
                <a:cs typeface="Tahoma"/>
              </a:rPr>
              <a:t>Sravani Ginamoni</a:t>
            </a:r>
            <a:endParaRPr sz="2000" dirty="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0"/>
            <a:ext cx="2851785" cy="6858000"/>
            <a:chOff x="0" y="0"/>
            <a:chExt cx="2851785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" y="0"/>
              <a:ext cx="2851522" cy="68580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1742439" cy="6858000"/>
            </a:xfrm>
            <a:custGeom>
              <a:avLst/>
              <a:gdLst/>
              <a:ahLst/>
              <a:cxnLst/>
              <a:rect l="l" t="t" r="r" b="b"/>
              <a:pathLst>
                <a:path w="1742439" h="6858000">
                  <a:moveTo>
                    <a:pt x="1742274" y="4712513"/>
                  </a:moveTo>
                  <a:lnTo>
                    <a:pt x="1740535" y="4700841"/>
                  </a:lnTo>
                  <a:lnTo>
                    <a:pt x="1735328" y="4689602"/>
                  </a:lnTo>
                  <a:lnTo>
                    <a:pt x="1378839" y="4337939"/>
                  </a:lnTo>
                  <a:lnTo>
                    <a:pt x="1378839" y="4333240"/>
                  </a:lnTo>
                  <a:lnTo>
                    <a:pt x="1374140" y="4333240"/>
                  </a:lnTo>
                  <a:lnTo>
                    <a:pt x="1369733" y="4329798"/>
                  </a:lnTo>
                  <a:lnTo>
                    <a:pt x="1363560" y="4326788"/>
                  </a:lnTo>
                  <a:lnTo>
                    <a:pt x="1355636" y="4324655"/>
                  </a:lnTo>
                  <a:lnTo>
                    <a:pt x="1345946" y="4323842"/>
                  </a:lnTo>
                  <a:lnTo>
                    <a:pt x="182880" y="4323842"/>
                  </a:lnTo>
                  <a:lnTo>
                    <a:pt x="182880" y="0"/>
                  </a:lnTo>
                  <a:lnTo>
                    <a:pt x="0" y="0"/>
                  </a:lnTo>
                  <a:lnTo>
                    <a:pt x="0" y="4323842"/>
                  </a:lnTo>
                  <a:lnTo>
                    <a:pt x="0" y="5102352"/>
                  </a:lnTo>
                  <a:lnTo>
                    <a:pt x="0" y="6858000"/>
                  </a:lnTo>
                  <a:lnTo>
                    <a:pt x="182880" y="6858000"/>
                  </a:lnTo>
                  <a:lnTo>
                    <a:pt x="182880" y="5102352"/>
                  </a:lnTo>
                  <a:lnTo>
                    <a:pt x="1345946" y="5102352"/>
                  </a:lnTo>
                  <a:lnTo>
                    <a:pt x="1355636" y="5101552"/>
                  </a:lnTo>
                  <a:lnTo>
                    <a:pt x="1363560" y="5099431"/>
                  </a:lnTo>
                  <a:lnTo>
                    <a:pt x="1369733" y="5096459"/>
                  </a:lnTo>
                  <a:lnTo>
                    <a:pt x="1374140" y="5093081"/>
                  </a:lnTo>
                  <a:lnTo>
                    <a:pt x="1374140" y="5088382"/>
                  </a:lnTo>
                  <a:lnTo>
                    <a:pt x="1378839" y="5088382"/>
                  </a:lnTo>
                  <a:lnTo>
                    <a:pt x="1735328" y="4731893"/>
                  </a:lnTo>
                  <a:lnTo>
                    <a:pt x="1740535" y="4723308"/>
                  </a:lnTo>
                  <a:lnTo>
                    <a:pt x="1742274" y="4712513"/>
                  </a:lnTo>
                  <a:close/>
                </a:path>
              </a:pathLst>
            </a:custGeom>
            <a:solidFill>
              <a:srgbClr val="DE31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77000" y="406908"/>
            <a:ext cx="5142738" cy="34297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55CF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Words>568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Tahoma</vt:lpstr>
      <vt:lpstr>Times New Roman</vt:lpstr>
      <vt:lpstr>Verdana</vt:lpstr>
      <vt:lpstr>Wingdings</vt:lpstr>
      <vt:lpstr>Office Theme</vt:lpstr>
      <vt:lpstr>ABC Call Volume Trend Analysis</vt:lpstr>
      <vt:lpstr>Description</vt:lpstr>
      <vt:lpstr>Understanding Data</vt:lpstr>
      <vt:lpstr>Tech-stack Used:</vt:lpstr>
      <vt:lpstr>Data Understanding</vt:lpstr>
      <vt:lpstr>Assumptions</vt:lpstr>
      <vt:lpstr>Analysis &amp; Visualization</vt:lpstr>
      <vt:lpstr>1) Average Call Duration</vt:lpstr>
      <vt:lpstr>2)Call Volume Analysis</vt:lpstr>
      <vt:lpstr>Task 3)Manpower Day Planning</vt:lpstr>
      <vt:lpstr>Task 4)Night Shift Planning</vt:lpstr>
      <vt:lpstr>Insights</vt:lpstr>
      <vt:lpstr>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aborncreator@gmail.com</dc:creator>
  <cp:lastModifiedBy>sravani g</cp:lastModifiedBy>
  <cp:revision>2</cp:revision>
  <dcterms:created xsi:type="dcterms:W3CDTF">2026-04-02T10:11:18Z</dcterms:created>
  <dcterms:modified xsi:type="dcterms:W3CDTF">2026-04-03T10:10:48Z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2025-01-03T00:00:00Z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2026-04-02T00:00:00Z</vt:filetime>
  </property>
  <property fmtid="{D5CDD505-2E9C-101B-9397-08002B2CF9AE}" pid="5" name="Producer">
    <vt:lpwstr>Microsoft® PowerPoint® for Microsoft 365</vt:lpwstr>
  </property>
</Properties>
</file>